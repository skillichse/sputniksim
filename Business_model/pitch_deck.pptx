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3" r:id="rId3"/>
    <p:sldId id="265" r:id="rId4"/>
    <p:sldId id="276" r:id="rId5"/>
    <p:sldId id="277" r:id="rId6"/>
    <p:sldId id="278" r:id="rId7"/>
    <p:sldId id="259" r:id="rId8"/>
    <p:sldId id="272" r:id="rId9"/>
    <p:sldId id="260" r:id="rId10"/>
    <p:sldId id="262" r:id="rId11"/>
    <p:sldId id="261" r:id="rId12"/>
    <p:sldId id="264" r:id="rId13"/>
    <p:sldId id="274" r:id="rId14"/>
    <p:sldId id="263" r:id="rId15"/>
    <p:sldId id="28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дмин" initials="а" lastIdx="1" clrIdx="0">
    <p:extLst>
      <p:ext uri="{19B8F6BF-5375-455C-9EA6-DF929625EA0E}">
        <p15:presenceInfo xmlns:p15="http://schemas.microsoft.com/office/powerpoint/2012/main" userId="админ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66FF"/>
    <a:srgbClr val="00EEFF"/>
    <a:srgbClr val="080C10"/>
    <a:srgbClr val="131B1D"/>
    <a:srgbClr val="101418"/>
    <a:srgbClr val="182A39"/>
    <a:srgbClr val="A8E4FF"/>
    <a:srgbClr val="273B49"/>
    <a:srgbClr val="181E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65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03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80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8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81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91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29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1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57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90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01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BB154-D048-44FA-A144-453A9CDD0B25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91CF3-DF32-4A32-973E-B252273D0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43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11" y="24474"/>
            <a:ext cx="12109889" cy="6809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260787" y="1019503"/>
            <a:ext cx="10154965" cy="195492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800" b="1" dirty="0" err="1">
                <a:solidFill>
                  <a:srgbClr val="00FF99"/>
                </a:solidFill>
                <a:latin typeface="Consolas" panose="020B0609020204030204" pitchFamily="49" charset="0"/>
              </a:rPr>
              <a:t>SputnikSim</a:t>
            </a:r>
            <a:endParaRPr lang="ru-RU" sz="13800" dirty="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86EB069D-A723-57A5-0F93-3EC14F123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754" y="3796833"/>
            <a:ext cx="10724492" cy="2039065"/>
          </a:xfrm>
        </p:spPr>
        <p:txBody>
          <a:bodyPr>
            <a:noAutofit/>
          </a:bodyPr>
          <a:lstStyle/>
          <a:p>
            <a:r>
              <a:rPr lang="ru-RU" sz="3600" b="1" dirty="0">
                <a:ln w="12700">
                  <a:solidFill>
                    <a:schemeClr val="bg1">
                      <a:lumMod val="85000"/>
                    </a:schemeClr>
                  </a:solidFill>
                  <a:prstDash val="solid"/>
                </a:ln>
                <a:solidFill>
                  <a:srgbClr val="FF66FF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onsolas" panose="020B0609020204030204" pitchFamily="49" charset="0"/>
              </a:rPr>
              <a:t>Тренажёр анализа и коррекции орбит геостационарных спутников на основе реальных данных и ИИ</a:t>
            </a:r>
          </a:p>
        </p:txBody>
      </p:sp>
    </p:spTree>
    <p:extLst>
      <p:ext uri="{BB962C8B-B14F-4D97-AF65-F5344CB8AC3E}">
        <p14:creationId xmlns:p14="http://schemas.microsoft.com/office/powerpoint/2010/main" val="1176957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01930"/>
            <a:ext cx="10515600" cy="841883"/>
          </a:xfrm>
        </p:spPr>
        <p:txBody>
          <a:bodyPr>
            <a:noAutofit/>
          </a:bodyPr>
          <a:lstStyle/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/Проблема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60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445296"/>
              </p:ext>
            </p:extLst>
          </p:nvPr>
        </p:nvGraphicFramePr>
        <p:xfrm>
          <a:off x="598932" y="2116182"/>
          <a:ext cx="10994136" cy="4607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6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56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Проблема</a:t>
                      </a:r>
                      <a:endParaRPr lang="ru-RU" sz="2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7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Высокая стоимость ошибки</a:t>
                      </a:r>
                      <a:endParaRPr lang="ru-RU" sz="24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EEFF"/>
                          </a:solidFill>
                          <a:effectLst/>
                        </a:rPr>
                        <a:t>Потеря KazSat-1: $65 млн и 2 года судов со страховщиками.</a:t>
                      </a:r>
                      <a:endParaRPr lang="ru-RU" sz="2400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42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Нехватка опытных кадров</a:t>
                      </a:r>
                      <a:endParaRPr lang="ru-RU" sz="24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EEFF"/>
                          </a:solidFill>
                          <a:effectLst/>
                        </a:rPr>
                        <a:t>Система подготовки только формируется, учиться на реальных спутниках — значит рисковать ими.</a:t>
                      </a:r>
                      <a:endParaRPr lang="ru-RU" sz="2400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77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FF99"/>
                          </a:solidFill>
                          <a:effectLst/>
                        </a:rPr>
                        <a:t>Сложность прогнозирования</a:t>
                      </a:r>
                      <a:endParaRPr lang="ru-RU" sz="2400">
                        <a:solidFill>
                          <a:srgbClr val="00FF9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EEFF"/>
                          </a:solidFill>
                          <a:effectLst/>
                        </a:rPr>
                        <a:t>Инцидент с KazSat-3: прогнозируемое явление (тень) привело к отключению связи по всей стране.</a:t>
                      </a:r>
                      <a:endParaRPr lang="ru-RU" sz="2400">
                        <a:solidFill>
                          <a:srgbClr val="00EE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598932" y="1043813"/>
            <a:ext cx="109941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EEFF"/>
                </a:solidFill>
                <a:latin typeface="Consolas" panose="020B0609020204030204" pitchFamily="49" charset="0"/>
              </a:rPr>
              <a:t>Геостационарная орбита (GEO) является одним из наиболее ценных и ограниченных ресурсов современной космической инфраструктуры. Эксплуатация спутников требует постоянного контроля их орбитального состояния.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324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258" y="219456"/>
            <a:ext cx="10238576" cy="823595"/>
          </a:xfrm>
        </p:spPr>
        <p:txBody>
          <a:bodyPr>
            <a:noAutofit/>
          </a:bodyPr>
          <a:lstStyle/>
          <a:p>
            <a:r>
              <a:rPr lang="en-US" sz="6000" b="1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lang="ru-RU" sz="6000" b="1">
                <a:solidFill>
                  <a:srgbClr val="00FF99"/>
                </a:solidFill>
                <a:latin typeface="Consolas" panose="020B0609020204030204" pitchFamily="49" charset="0"/>
              </a:rPr>
              <a:t>Решение: </a:t>
            </a:r>
            <a:r>
              <a:rPr lang="en-US" sz="6000" b="1">
                <a:solidFill>
                  <a:srgbClr val="00FF99"/>
                </a:solidFill>
                <a:latin typeface="Consolas" panose="020B0609020204030204" pitchFamily="49" charset="0"/>
              </a:rPr>
              <a:t>SputnikSim&gt;</a:t>
            </a:r>
            <a:endParaRPr lang="ru-RU" sz="6000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1257" y="1460726"/>
            <a:ext cx="11773088" cy="5076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Интерактивный тренажёр анализа и коррекции орбит геостационарных спутников.</a:t>
            </a:r>
          </a:p>
          <a:p>
            <a:pPr marL="0" indent="0">
              <a:buNone/>
            </a:pP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Основные функции:</a:t>
            </a: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Загрузка реальных данных любого спутника из каталога NORAD (по номеру или названию)</a:t>
            </a: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Автоматический анализ орбитальных аномалий с помощью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нейросети</a:t>
            </a:r>
            <a:endParaRPr lang="ru-RU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Отработка коррекций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North-South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/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East-West</a:t>
            </a:r>
            <a:endParaRPr lang="ru-RU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Ускоренное время (часы и сутки с шагом в минуты)</a:t>
            </a:r>
          </a:p>
          <a:p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Наглядная обратная связь</a:t>
            </a:r>
          </a:p>
        </p:txBody>
      </p:sp>
    </p:spTree>
    <p:extLst>
      <p:ext uri="{BB962C8B-B14F-4D97-AF65-F5344CB8AC3E}">
        <p14:creationId xmlns:p14="http://schemas.microsoft.com/office/powerpoint/2010/main" val="181249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1375" y="0"/>
            <a:ext cx="8340169" cy="774191"/>
          </a:xfrm>
        </p:spPr>
        <p:txBody>
          <a:bodyPr>
            <a:noAutofit/>
          </a:bodyPr>
          <a:lstStyle/>
          <a:p>
            <a:r>
              <a:rPr lang="en-US" sz="60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6000" b="1">
                <a:solidFill>
                  <a:srgbClr val="00FF99"/>
                </a:solidFill>
                <a:latin typeface="Consolas" panose="020B0609020204030204" pitchFamily="49" charset="0"/>
              </a:rPr>
              <a:t>/Как это работает</a:t>
            </a:r>
            <a:r>
              <a:rPr lang="en-US" sz="60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60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832" y="983165"/>
            <a:ext cx="5630418" cy="3117962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Выбор спутника</a:t>
            </a:r>
            <a:r>
              <a:rPr lang="en-US" b="1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по </a:t>
            </a:r>
            <a:r>
              <a:rPr lang="en-US">
                <a:solidFill>
                  <a:srgbClr val="00EEFF"/>
                </a:solidFill>
                <a:latin typeface="Consolas" panose="020B0609020204030204" pitchFamily="49" charset="0"/>
              </a:rPr>
              <a:t>NORAD ID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: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sat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37820 (INTELSAT)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Анализ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: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нейросеть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показывает отклонение наклонения +2.66°, рекомендует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North-South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коррекцию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5" y="4310101"/>
            <a:ext cx="4695825" cy="20478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048" y="3429000"/>
            <a:ext cx="5553075" cy="3390900"/>
          </a:xfrm>
          <a:prstGeom prst="rect">
            <a:avLst/>
          </a:prstGeom>
        </p:spPr>
      </p:pic>
      <p:sp>
        <p:nvSpPr>
          <p:cNvPr id="12" name="Объект 2"/>
          <p:cNvSpPr txBox="1">
            <a:spLocks/>
          </p:cNvSpPr>
          <p:nvPr/>
        </p:nvSpPr>
        <p:spPr>
          <a:xfrm>
            <a:off x="6324048" y="979590"/>
            <a:ext cx="5630418" cy="2857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>
                <a:solidFill>
                  <a:srgbClr val="00EEFF"/>
                </a:solidFill>
              </a:rPr>
              <a:t>Коррекция</a:t>
            </a:r>
            <a:r>
              <a:rPr lang="ru-RU">
                <a:solidFill>
                  <a:srgbClr val="00EEFF"/>
                </a:solidFill>
              </a:rPr>
              <a:t>: пользователь выбирает </a:t>
            </a:r>
            <a:r>
              <a:rPr lang="ru-RU" err="1">
                <a:solidFill>
                  <a:srgbClr val="00EEFF"/>
                </a:solidFill>
              </a:rPr>
              <a:t>delta</a:t>
            </a:r>
            <a:r>
              <a:rPr lang="ru-RU">
                <a:solidFill>
                  <a:srgbClr val="00EEFF"/>
                </a:solidFill>
              </a:rPr>
              <a:t>, указывает параметры 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Результат</a:t>
            </a:r>
            <a:r>
              <a:rPr lang="ru-RU">
                <a:solidFill>
                  <a:srgbClr val="00EEFF"/>
                </a:solidFill>
              </a:rPr>
              <a:t>: успех / частичный успех / потеря спутника</a:t>
            </a:r>
          </a:p>
        </p:txBody>
      </p:sp>
    </p:spTree>
    <p:extLst>
      <p:ext uri="{BB962C8B-B14F-4D97-AF65-F5344CB8AC3E}">
        <p14:creationId xmlns:p14="http://schemas.microsoft.com/office/powerpoint/2010/main" val="51602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lstStyle/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Технология ИИ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614652"/>
            <a:ext cx="11582400" cy="4991100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Архитектура: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автоэнкодер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(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PyTorch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) –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нейросеть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, обучающаяся восстанавливать входные параметры орбиты.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Обучающий набор:</a:t>
            </a:r>
            <a:b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</a:br>
            <a:r>
              <a:rPr lang="ru-RU" i="1">
                <a:solidFill>
                  <a:srgbClr val="00EEFF"/>
                </a:solidFill>
                <a:latin typeface="Consolas" panose="020B0609020204030204" pitchFamily="49" charset="0"/>
              </a:rPr>
              <a:t>12 872 записи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— комбинация синтетических и реальных данных:</a:t>
            </a:r>
          </a:p>
          <a:p>
            <a:pPr lvl="1"/>
            <a:r>
              <a:rPr lang="ru-RU" sz="2800">
                <a:solidFill>
                  <a:srgbClr val="00EEFF"/>
                </a:solidFill>
                <a:latin typeface="Consolas" panose="020B0609020204030204" pitchFamily="49" charset="0"/>
              </a:rPr>
              <a:t>12 000 синтетических TLE, сгенерированных на основе реальных орбитальных распределений (GEO, MEO, LEO), что позволило создать сбалансированную выборку с разными сценариями.</a:t>
            </a:r>
          </a:p>
          <a:p>
            <a:pPr lvl="1"/>
            <a:r>
              <a:rPr lang="ru-RU" sz="2800">
                <a:solidFill>
                  <a:srgbClr val="00EEFF"/>
                </a:solidFill>
                <a:latin typeface="Consolas" panose="020B0609020204030204" pitchFamily="49" charset="0"/>
              </a:rPr>
              <a:t>872 реальные TLE-записи действующих спутников и космических объектов (NORAD-каталог), чтобы модель «видела» настоящие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2136128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646183"/>
            <a:ext cx="11582400" cy="5600700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Принцип работы</a:t>
            </a:r>
            <a:r>
              <a:rPr lang="en-US" b="1">
                <a:solidFill>
                  <a:srgbClr val="00EEFF"/>
                </a:solidFill>
                <a:latin typeface="Consolas" panose="020B0609020204030204" pitchFamily="49" charset="0"/>
              </a:rPr>
              <a:t> Vega 1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00EEFF"/>
                </a:solidFill>
                <a:latin typeface="Consolas" panose="020B0609020204030204" pitchFamily="49" charset="0"/>
              </a:rPr>
              <a:t>0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b="1">
                <a:solidFill>
                  <a:srgbClr val="00EEFF"/>
                </a:solidFill>
                <a:latin typeface="Consolas" panose="020B0609020204030204" pitchFamily="49" charset="0"/>
              </a:rPr>
              <a:t>Vega 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восстанавливает параметры орбиты. Если объект аномален (например, космический мусор или спутник с отклонениями), ошибка восстановления резко возрастает – так происходит автоматическая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детекция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аномалий.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Единая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нейросеть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– две задачи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Классификация объектов: спутник / мусор – точность 91.3%</a:t>
            </a:r>
          </a:p>
          <a:p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Детекция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орбитальных аномалий – точность 81.8%, F1 85%</a:t>
            </a:r>
          </a:p>
          <a:p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Валидация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на 516 реальных объектах, включая фрагменты разрушений (Cosmos‑1408, Fengyun‑1C и др.)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lstStyle/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&lt;/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Технология ИИ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56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256" y="1636438"/>
            <a:ext cx="11091041" cy="5032375"/>
          </a:xfrm>
        </p:spPr>
        <p:txBody>
          <a:bodyPr>
            <a:no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Нейросетевой анализ: вместо простого сравнения с эталоном наш ИИ выявляет скрытые закономерности и аномалии, что повышает точность диагностики.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Реализм: работа с реальными TLE-данными, а не с абстрактными математическими моделями.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Доступность: работает на обычном ПК, не требует дорогостоящего оборудования и может использоваться как в образовательных учреждениях, так и индивидуально.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Гибкость: возможность частичной коррекции, симуляции различных сценариев, расчет затрат топлива на коррекцию.</a:t>
            </a: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86256" y="441434"/>
            <a:ext cx="10515600" cy="739775"/>
          </a:xfrm>
        </p:spPr>
        <p:txBody>
          <a:bodyPr>
            <a:noAutofit/>
          </a:bodyPr>
          <a:lstStyle/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/Уникальность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32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31556"/>
            <a:ext cx="10515600" cy="784406"/>
          </a:xfrm>
        </p:spPr>
        <p:txBody>
          <a:bodyPr>
            <a:noAutofit/>
          </a:bodyPr>
          <a:lstStyle/>
          <a:p>
            <a:pPr algn="ctr"/>
            <a:r>
              <a:rPr lang="en-US" sz="54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5400" b="1">
                <a:solidFill>
                  <a:srgbClr val="00FF99"/>
                </a:solidFill>
                <a:latin typeface="Consolas" panose="020B0609020204030204" pitchFamily="49" charset="0"/>
              </a:rPr>
              <a:t>/Конкурентное сравнение</a:t>
            </a:r>
            <a:r>
              <a:rPr lang="en-US" sz="54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54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8015841"/>
              </p:ext>
            </p:extLst>
          </p:nvPr>
        </p:nvGraphicFramePr>
        <p:xfrm>
          <a:off x="0" y="752850"/>
          <a:ext cx="12192000" cy="5655014"/>
        </p:xfrm>
        <a:graphic>
          <a:graphicData uri="http://schemas.openxmlformats.org/drawingml/2006/table">
            <a:tbl>
              <a:tblPr firstRow="1" firstCol="1" lastCol="1" bandRow="1">
                <a:tableStyleId>{5C22544A-7EE6-4342-B048-85BDC9FD1C3A}</a:tableStyleId>
              </a:tblPr>
              <a:tblGrid>
                <a:gridCol w="1933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1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5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3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706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Критерий</a:t>
                      </a:r>
                      <a:endParaRPr lang="ru-RU" sz="2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STK (</a:t>
                      </a:r>
                      <a:r>
                        <a:rPr lang="ru-RU" sz="2800" err="1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Ansys</a:t>
                      </a: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ru-RU" sz="2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GMAT (NASA)</a:t>
                      </a:r>
                      <a:endParaRPr lang="ru-RU" sz="2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Обучение на рабочем месте</a:t>
                      </a:r>
                      <a:endParaRPr lang="ru-RU" sz="16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SputnikSim</a:t>
                      </a:r>
                      <a:endParaRPr lang="ru-RU" sz="20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(наш продукт)</a:t>
                      </a:r>
                      <a:endParaRPr lang="ru-RU" sz="14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80C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Стоимость лицензии (в год)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$15 000–50 000 (вузовская)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Бесплатно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$50 000–150 000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(за одного оператора)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Доступно (целевая цена $2 000–5 000 для вуза)</a:t>
                      </a:r>
                      <a:endParaRPr lang="ru-RU" sz="18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6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Скрытые затраты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Обучение ($5 000–20 000), внедрение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Разработка сценариев (работа программистов)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Риск потери спутника ($150–300 млн.)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Минимальны</a:t>
                      </a:r>
                      <a:endParaRPr lang="ru-RU" sz="18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Сложность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Очень высокая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Высокая (требуется программирование)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для избранных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Понятно новичку</a:t>
                      </a:r>
                      <a:endParaRPr lang="ru-RU" sz="18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ИИ-анализ аномалий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опыт наставника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Есть</a:t>
                      </a:r>
                      <a:r>
                        <a:rPr lang="en-US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Vega</a:t>
                      </a:r>
                      <a:r>
                        <a:rPr lang="en-US" sz="1800" baseline="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1.0</a:t>
                      </a: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ru-RU" sz="18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Обратная связь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расчёты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Только расчёты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Словесная</a:t>
                      </a:r>
                      <a:endParaRPr lang="ru-RU" sz="1800" baseline="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aseline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рискованно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Полный анализ </a:t>
                      </a:r>
                      <a:r>
                        <a:rPr lang="en-US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TLE</a:t>
                      </a: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 нейросетью</a:t>
                      </a:r>
                      <a:endParaRPr lang="ru-RU" sz="18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8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FF99"/>
                          </a:solidFill>
                          <a:effectLst/>
                          <a:latin typeface="Consolas" panose="020B0609020204030204" pitchFamily="49" charset="0"/>
                        </a:rPr>
                        <a:t>Доступно школьникам</a:t>
                      </a:r>
                      <a:endParaRPr lang="ru-RU" sz="1800">
                        <a:solidFill>
                          <a:srgbClr val="00FF99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Нет</a:t>
                      </a:r>
                      <a:endParaRPr lang="ru-RU" sz="18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FF66FF"/>
                          </a:solidFill>
                          <a:effectLst/>
                          <a:latin typeface="Consolas" panose="020B0609020204030204" pitchFamily="49" charset="0"/>
                        </a:rPr>
                        <a:t>Да</a:t>
                      </a:r>
                      <a:endParaRPr lang="ru-RU" sz="1800">
                        <a:solidFill>
                          <a:srgbClr val="FF66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01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064" y="1219200"/>
            <a:ext cx="11430000" cy="5638800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Прямые клиенты (B2B/B2G):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Вузы: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Satbayev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University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, ЕНУ,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КазНУ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(готовят инженеров-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баллистиков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Операторы: РЦКС (управление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KazSat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Молодёжные космические лаборатории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Школы и кружки (дополнительное образование)</a:t>
            </a:r>
          </a:p>
          <a:p>
            <a:endParaRPr lang="ru-RU" b="1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Потенциальные партнёры: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Центры подготовки: НЦ КИТ, СКТБ «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Галам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»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В перспективе – интеграция с производителями спутников (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Thales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, ИСС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Решетнёва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86256" y="441434"/>
            <a:ext cx="105156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/Рынок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447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9876" y="1314449"/>
            <a:ext cx="10515600" cy="5543551"/>
          </a:xfrm>
        </p:spPr>
        <p:txBody>
          <a:bodyPr>
            <a:no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Продажа годовых лицензий учебным заведениям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Пакет для вуза (до 50 пользователей): $2–5 тыс./год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Гранты и программы поддержки</a:t>
            </a:r>
          </a:p>
          <a:p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Astana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Hub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,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Минцифры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РК, «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Жас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Ғалым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» – на развитие и пилоты</a:t>
            </a:r>
          </a:p>
          <a:p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Кастомизация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под заказчика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Добавление моделей конкретных спутников,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спецсценарии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(оплачивается отдельно)</a:t>
            </a:r>
          </a:p>
          <a:p>
            <a:r>
              <a:rPr lang="ru-RU" b="1">
                <a:solidFill>
                  <a:srgbClr val="FF66FF"/>
                </a:solidFill>
                <a:latin typeface="Consolas" panose="020B0609020204030204" pitchFamily="49" charset="0"/>
              </a:rPr>
              <a:t>Позже:</a:t>
            </a:r>
          </a:p>
          <a:p>
            <a:r>
              <a:rPr lang="ru-RU" b="1">
                <a:solidFill>
                  <a:srgbClr val="FF66FF"/>
                </a:solidFill>
                <a:latin typeface="Consolas" panose="020B0609020204030204" pitchFamily="49" charset="0"/>
              </a:rPr>
              <a:t>Подписка для индивидуальных пользователей</a:t>
            </a:r>
          </a:p>
          <a:p>
            <a:r>
              <a:rPr lang="ru-RU" b="1">
                <a:solidFill>
                  <a:srgbClr val="FF66FF"/>
                </a:solidFill>
                <a:latin typeface="Consolas" panose="020B0609020204030204" pitchFamily="49" charset="0"/>
              </a:rPr>
              <a:t>(месячная/годовая)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386256" y="441434"/>
            <a:ext cx="105156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/Бизнес модель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35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19299"/>
            <a:ext cx="10515600" cy="4400551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Прямые продажи: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переговоры с вузами, участие в тендерах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Контент-маркетинг: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публикации кейсов (анализ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KazSat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,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Al-Farabi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) в отраслевых журналах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Мероприятия: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Space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Days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 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Kazakhstan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, выставки, конференции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Партнёрства: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 с казахстанскими научными центрами (НЦ КИТ, СКТБ «</a:t>
            </a:r>
            <a:r>
              <a:rPr lang="ru-RU" err="1">
                <a:solidFill>
                  <a:srgbClr val="00EEFF"/>
                </a:solidFill>
                <a:latin typeface="Consolas" panose="020B0609020204030204" pitchFamily="49" charset="0"/>
              </a:rPr>
              <a:t>Галам</a:t>
            </a:r>
            <a:r>
              <a:rPr lang="ru-RU">
                <a:solidFill>
                  <a:srgbClr val="00EEFF"/>
                </a:solidFill>
                <a:latin typeface="Consolas" panose="020B0609020204030204" pitchFamily="49" charset="0"/>
              </a:rPr>
              <a:t>») для пилотных внедрений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386256" y="441434"/>
            <a:ext cx="10515600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7200" b="1">
                <a:solidFill>
                  <a:srgbClr val="00FF99"/>
                </a:solidFill>
                <a:latin typeface="Consolas" panose="020B0609020204030204" pitchFamily="49" charset="0"/>
              </a:rPr>
              <a:t>/Каналы сбыта</a:t>
            </a:r>
            <a:r>
              <a:rPr lang="en-US" sz="72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72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293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386255" y="441434"/>
            <a:ext cx="11419921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sz="5400" b="1">
                <a:solidFill>
                  <a:srgbClr val="00FF99"/>
                </a:solidFill>
                <a:latin typeface="Consolas" panose="020B0609020204030204" pitchFamily="49" charset="0"/>
              </a:rPr>
              <a:t>/Прогресс и дорожная карта</a:t>
            </a:r>
            <a:r>
              <a:rPr lang="en-US" sz="5400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endParaRPr lang="ru-RU" sz="5400" b="1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81150"/>
            <a:ext cx="10515600" cy="5276850"/>
          </a:xfrm>
        </p:spPr>
        <p:txBody>
          <a:bodyPr>
            <a:normAutofit/>
          </a:bodyPr>
          <a:lstStyle/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Текущий статус: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Загрузка спутников по NORAD ID,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парсинг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TLE</a:t>
            </a:r>
          </a:p>
          <a:p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Нейросеть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для автоматического обнаружения аномалий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Команда 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delta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 для изменения параметров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Симуляция времени (</a:t>
            </a:r>
            <a:r>
              <a:rPr lang="ru-RU" b="1" err="1">
                <a:solidFill>
                  <a:srgbClr val="00EEFF"/>
                </a:solidFill>
                <a:latin typeface="Consolas" panose="020B0609020204030204" pitchFamily="49" charset="0"/>
              </a:rPr>
              <a:t>simulate</a:t>
            </a:r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Консольный интерфейс, базовая таблица параметров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Графическая визуализация орбиты на карте</a:t>
            </a:r>
          </a:p>
          <a:p>
            <a:endParaRPr lang="ru-RU" b="1">
              <a:solidFill>
                <a:srgbClr val="00EEFF"/>
              </a:solidFill>
              <a:latin typeface="Consolas" panose="020B0609020204030204" pitchFamily="49" charset="0"/>
            </a:endParaRP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Планы (6–12 месяцев):</a:t>
            </a:r>
          </a:p>
          <a:p>
            <a:r>
              <a:rPr lang="ru-RU" b="1">
                <a:solidFill>
                  <a:srgbClr val="00EEFF"/>
                </a:solidFill>
                <a:latin typeface="Consolas" panose="020B0609020204030204" pitchFamily="49" charset="0"/>
              </a:rPr>
              <a:t>Пилоты в 2–3 казахстанских вузах</a:t>
            </a:r>
          </a:p>
        </p:txBody>
      </p:sp>
    </p:spTree>
    <p:extLst>
      <p:ext uri="{BB962C8B-B14F-4D97-AF65-F5344CB8AC3E}">
        <p14:creationId xmlns:p14="http://schemas.microsoft.com/office/powerpoint/2010/main" val="2375714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172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FF99"/>
                </a:solidFill>
                <a:latin typeface="Consolas" panose="020B0609020204030204" pitchFamily="49" charset="0"/>
              </a:rPr>
              <a:t>&lt;</a:t>
            </a:r>
            <a:r>
              <a:rPr lang="ru-RU" b="1">
                <a:solidFill>
                  <a:srgbClr val="00FF99"/>
                </a:solidFill>
                <a:latin typeface="Consolas" panose="020B0609020204030204" pitchFamily="49" charset="0"/>
              </a:rPr>
              <a:t>Ключевые метрики</a:t>
            </a:r>
            <a:r>
              <a:rPr lang="en-US" b="1">
                <a:solidFill>
                  <a:srgbClr val="00FF99"/>
                </a:solidFill>
                <a:latin typeface="Consolas" panose="020B0609020204030204" pitchFamily="49" charset="0"/>
              </a:rPr>
              <a:t>&gt;</a:t>
            </a:r>
            <a:br>
              <a:rPr lang="ru-RU" b="1">
                <a:solidFill>
                  <a:srgbClr val="00FF99"/>
                </a:solidFill>
                <a:latin typeface="Consolas" panose="020B0609020204030204" pitchFamily="49" charset="0"/>
              </a:rPr>
            </a:br>
            <a:r>
              <a:rPr lang="ru-RU" b="1">
                <a:solidFill>
                  <a:srgbClr val="00FF99"/>
                </a:solidFill>
                <a:latin typeface="Consolas" panose="020B0609020204030204" pitchFamily="49" charset="0"/>
              </a:rPr>
              <a:t>(цели на 2026-2027 год)</a:t>
            </a:r>
            <a:endParaRPr lang="ru-RU">
              <a:solidFill>
                <a:srgbClr val="00FF99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204879"/>
              </p:ext>
            </p:extLst>
          </p:nvPr>
        </p:nvGraphicFramePr>
        <p:xfrm>
          <a:off x="744583" y="1466850"/>
          <a:ext cx="10702834" cy="4919664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905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99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Количество активных пользователей (обучающихся)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100+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9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Количество заключенных контрактов с учебными</a:t>
                      </a:r>
                      <a:r>
                        <a:rPr lang="ru-RU" sz="3200" baseline="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 заведениями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2-5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9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Точность обнаружения аномалий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9</a:t>
                      </a:r>
                      <a:r>
                        <a:rPr lang="en-US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%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91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NPS (удовлетворенность) среди первых пользователей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80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EEFF"/>
                          </a:solidFill>
                          <a:effectLst/>
                          <a:latin typeface="Consolas" panose="020B0609020204030204" pitchFamily="49" charset="0"/>
                        </a:rPr>
                        <a:t>&gt;+50</a:t>
                      </a:r>
                      <a:endParaRPr lang="ru-RU" sz="3200">
                        <a:solidFill>
                          <a:srgbClr val="00EEFF"/>
                        </a:solidFill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131B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73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&lt;/</a:t>
            </a:r>
            <a:r>
              <a:rPr lang="ru-RU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Команда </a:t>
            </a:r>
            <a:r>
              <a:rPr lang="en-US" sz="5400" b="1" dirty="0" err="1">
                <a:solidFill>
                  <a:srgbClr val="00EEFF"/>
                </a:solidFill>
                <a:latin typeface="Consolas" panose="020B0609020204030204" pitchFamily="49" charset="0"/>
              </a:rPr>
              <a:t>RUDnik</a:t>
            </a:r>
            <a:r>
              <a:rPr lang="en-US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&gt;</a:t>
            </a:r>
            <a:endParaRPr lang="ru-RU" sz="5400" b="1" dirty="0">
              <a:solidFill>
                <a:srgbClr val="00EEFF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3783676" cy="1776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lang="ru-RU" sz="1600" dirty="0" err="1">
                <a:solidFill>
                  <a:srgbClr val="00FF99"/>
                </a:solidFill>
                <a:latin typeface="Consolas" panose="020B0609020204030204" pitchFamily="49" charset="0"/>
              </a:rPr>
              <a:t>Хлызов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 Максим – Капитан, Физик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Гончар Фёдор – </a:t>
            </a: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Frontend</a:t>
            </a:r>
            <a:endParaRPr lang="ru-RU" sz="1600" dirty="0">
              <a:solidFill>
                <a:srgbClr val="00FF99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lang="ru-RU" sz="1600" dirty="0" err="1">
                <a:solidFill>
                  <a:srgbClr val="00FF99"/>
                </a:solidFill>
                <a:latin typeface="Consolas" panose="020B0609020204030204" pitchFamily="49" charset="0"/>
              </a:rPr>
              <a:t>Волочай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 Даниил – </a:t>
            </a: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Backend 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и </a:t>
            </a: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AI</a:t>
            </a:r>
            <a:endParaRPr lang="ru-RU" sz="1600" dirty="0">
              <a:solidFill>
                <a:srgbClr val="00FF99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FF99"/>
                </a:solidFill>
                <a:latin typeface="Consolas" panose="020B0609020204030204" pitchFamily="49" charset="0"/>
              </a:rPr>
              <a:t>|</a:t>
            </a:r>
            <a:r>
              <a:rPr lang="ru-RU" sz="1600" dirty="0" err="1">
                <a:solidFill>
                  <a:srgbClr val="00FF99"/>
                </a:solidFill>
                <a:latin typeface="Consolas" panose="020B0609020204030204" pitchFamily="49" charset="0"/>
              </a:rPr>
              <a:t>Андин</a:t>
            </a: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 Артём – Маркетинг и документация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A19510F-F13E-2BD6-3684-49B0226EBF5B}"/>
              </a:ext>
            </a:extLst>
          </p:cNvPr>
          <p:cNvSpPr txBox="1">
            <a:spLocks/>
          </p:cNvSpPr>
          <p:nvPr/>
        </p:nvSpPr>
        <p:spPr>
          <a:xfrm>
            <a:off x="838199" y="31314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&lt;/</a:t>
            </a:r>
            <a:r>
              <a:rPr lang="ru-RU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Запрос</a:t>
            </a:r>
            <a:r>
              <a:rPr lang="en-US" sz="5400" b="1" dirty="0">
                <a:solidFill>
                  <a:srgbClr val="00EEFF"/>
                </a:solidFill>
                <a:latin typeface="Consolas" panose="020B0609020204030204" pitchFamily="49" charset="0"/>
              </a:rPr>
              <a:t>&gt;</a:t>
            </a:r>
            <a:endParaRPr lang="ru-RU" sz="5400" b="1" dirty="0">
              <a:solidFill>
                <a:srgbClr val="00EE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CD4615F-96C8-9965-DDA9-E64A53C22F20}"/>
              </a:ext>
            </a:extLst>
          </p:cNvPr>
          <p:cNvSpPr txBox="1">
            <a:spLocks/>
          </p:cNvSpPr>
          <p:nvPr/>
        </p:nvSpPr>
        <p:spPr>
          <a:xfrm>
            <a:off x="644236" y="4317206"/>
            <a:ext cx="39776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Инвестиции / гранты для завершения разработки, улучшения UI/UX и маркетинга.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FF99"/>
                </a:solidFill>
                <a:latin typeface="Consolas" panose="020B0609020204030204" pitchFamily="49" charset="0"/>
              </a:rPr>
              <a:t>Партнёров среди учебных заведений для пилотного внедрения и получения обратной связи</a:t>
            </a:r>
            <a:r>
              <a:rPr lang="ru-RU" b="1" dirty="0">
                <a:solidFill>
                  <a:srgbClr val="00EEFF"/>
                </a:solidFill>
                <a:latin typeface="Consolas" panose="020B0609020204030204" pitchFamily="49" charset="0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3A31EF-5B10-E6D4-3D36-DFE8F501A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8646" l="3125" r="98594">
                        <a14:foregroundMark x1="35781" y1="36771" x2="41016" y2="50000"/>
                        <a14:foregroundMark x1="35938" y1="30000" x2="44609" y2="36771"/>
                        <a14:foregroundMark x1="8438" y1="36979" x2="10859" y2="70104"/>
                        <a14:foregroundMark x1="4375" y1="34375" x2="5938" y2="37396"/>
                        <a14:foregroundMark x1="92578" y1="34167" x2="86797" y2="51146"/>
                        <a14:foregroundMark x1="86797" y1="51146" x2="86797" y2="72500"/>
                        <a14:foregroundMark x1="89063" y1="67188" x2="61328" y2="69063"/>
                        <a14:foregroundMark x1="92266" y1="59167" x2="95234" y2="73854"/>
                        <a14:foregroundMark x1="95234" y1="73854" x2="85938" y2="79063"/>
                        <a14:foregroundMark x1="85938" y1="79063" x2="78750" y2="80104"/>
                        <a14:foregroundMark x1="91719" y1="57188" x2="99219" y2="65104"/>
                        <a14:foregroundMark x1="99219" y1="65104" x2="93438" y2="81354"/>
                        <a14:foregroundMark x1="93438" y1="81354" x2="85234" y2="91458"/>
                        <a14:foregroundMark x1="22060" y1="86083" x2="3203" y2="84479"/>
                        <a14:foregroundMark x1="85234" y1="91458" x2="27551" y2="86551"/>
                        <a14:foregroundMark x1="3203" y1="84479" x2="12188" y2="59375"/>
                        <a14:foregroundMark x1="12188" y1="59375" x2="78438" y2="66563"/>
                        <a14:foregroundMark x1="78438" y1="66563" x2="80156" y2="66146"/>
                        <a14:foregroundMark x1="51484" y1="76250" x2="80313" y2="78646"/>
                        <a14:foregroundMark x1="69531" y1="61458" x2="88906" y2="60417"/>
                        <a14:foregroundMark x1="88906" y1="60417" x2="89219" y2="60208"/>
                        <a14:foregroundMark x1="4219" y1="61667" x2="4219" y2="61667"/>
                        <a14:foregroundMark x1="30547" y1="91667" x2="36406" y2="95938"/>
                        <a14:foregroundMark x1="87969" y1="92083" x2="91563" y2="91875"/>
                        <a14:foregroundMark x1="95391" y1="87500" x2="98594" y2="88958"/>
                        <a14:foregroundMark x1="32578" y1="97604" x2="32109" y2="97604"/>
                        <a14:foregroundMark x1="31172" y1="98229" x2="31172" y2="98229"/>
                        <a14:foregroundMark x1="14688" y1="98646" x2="14688" y2="98646"/>
                        <a14:foregroundMark x1="17031" y1="95938" x2="17031" y2="95938"/>
                        <a14:foregroundMark x1="13984" y1="95938" x2="10078" y2="97396"/>
                        <a14:foregroundMark x1="52266" y1="97813" x2="55781" y2="97813"/>
                        <a14:foregroundMark x1="4766" y1="33021" x2="9922" y2="30625"/>
                        <a14:foregroundMark x1="11016" y1="30625" x2="11016" y2="30625"/>
                        <a14:foregroundMark x1="11406" y1="31146" x2="11406" y2="31146"/>
                        <a14:foregroundMark x1="6094" y1="31354" x2="6094" y2="31354"/>
                        <a14:foregroundMark x1="6563" y1="30833" x2="6563" y2="30833"/>
                        <a14:foregroundMark x1="5938" y1="31146" x2="5938" y2="31146"/>
                        <a14:foregroundMark x1="5313" y1="31458" x2="5313" y2="31458"/>
                        <a14:foregroundMark x1="32656" y1="19583" x2="32656" y2="19583"/>
                        <a14:foregroundMark x1="76719" y1="19583" x2="76719" y2="19583"/>
                        <a14:foregroundMark x1="21250" y1="33646" x2="21250" y2="33646"/>
                        <a14:foregroundMark x1="21172" y1="36875" x2="21172" y2="36875"/>
                        <a14:foregroundMark x1="21172" y1="43021" x2="21172" y2="43021"/>
                        <a14:foregroundMark x1="20625" y1="44583" x2="20625" y2="44583"/>
                        <a14:foregroundMark x1="20547" y1="40104" x2="21406" y2="47604"/>
                        <a14:foregroundMark x1="20625" y1="50000" x2="20547" y2="47396"/>
                        <a14:foregroundMark x1="7031" y1="29896" x2="6641" y2="29896"/>
                        <a14:foregroundMark x1="6406" y1="30312" x2="5078" y2="32292"/>
                        <a14:backgroundMark x1="97500" y1="43021" x2="97500" y2="52396"/>
                        <a14:backgroundMark x1="24531" y1="95729" x2="23984" y2="86875"/>
                        <a14:backgroundMark x1="24297" y1="83854" x2="24297" y2="83854"/>
                        <a14:backgroundMark x1="25000" y1="81563" x2="25000" y2="84479"/>
                        <a14:backgroundMark x1="25000" y1="86042" x2="26250" y2="87917"/>
                        <a14:backgroundMark x1="24844" y1="85104" x2="22578" y2="86042"/>
                        <a14:backgroundMark x1="23516" y1="83854" x2="22266" y2="86250"/>
                        <a14:backgroundMark x1="24844" y1="93438" x2="23516" y2="96979"/>
                        <a14:backgroundMark x1="90625" y1="29583" x2="90625" y2="29583"/>
                        <a14:backgroundMark x1="93828" y1="32188" x2="93828" y2="32188"/>
                        <a14:backgroundMark x1="89766" y1="29792" x2="89766" y2="29792"/>
                        <a14:backgroundMark x1="89844" y1="28438" x2="89844" y2="28438"/>
                        <a14:backgroundMark x1="7266" y1="28958" x2="7266" y2="28958"/>
                        <a14:backgroundMark x1="9063" y1="28958" x2="9063" y2="289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491" y="1274618"/>
            <a:ext cx="7444509" cy="5583382"/>
          </a:xfrm>
          <a:prstGeom prst="rect">
            <a:avLst/>
          </a:prstGeom>
        </p:spPr>
      </p:pic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17A4B4F2-35C9-68D6-0A17-A6D711560EF3}"/>
              </a:ext>
            </a:extLst>
          </p:cNvPr>
          <p:cNvCxnSpPr>
            <a:cxnSpLocks/>
          </p:cNvCxnSpPr>
          <p:nvPr/>
        </p:nvCxnSpPr>
        <p:spPr>
          <a:xfrm>
            <a:off x="4368800" y="1985818"/>
            <a:ext cx="4941455" cy="341746"/>
          </a:xfrm>
          <a:prstGeom prst="bentConnector3">
            <a:avLst>
              <a:gd name="adj1" fmla="val 99907"/>
            </a:avLst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8A5E6DCF-98EC-8885-BD6B-B9A2349397C9}"/>
              </a:ext>
            </a:extLst>
          </p:cNvPr>
          <p:cNvCxnSpPr>
            <a:cxnSpLocks/>
          </p:cNvCxnSpPr>
          <p:nvPr/>
        </p:nvCxnSpPr>
        <p:spPr>
          <a:xfrm>
            <a:off x="3657600" y="2327564"/>
            <a:ext cx="3842327" cy="424872"/>
          </a:xfrm>
          <a:prstGeom prst="bentConnector3">
            <a:avLst>
              <a:gd name="adj1" fmla="val 100000"/>
            </a:avLst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E586D2FB-2DD1-0E5A-2D9C-277CE1B75CD6}"/>
              </a:ext>
            </a:extLst>
          </p:cNvPr>
          <p:cNvCxnSpPr/>
          <p:nvPr/>
        </p:nvCxnSpPr>
        <p:spPr>
          <a:xfrm>
            <a:off x="4294909" y="2678545"/>
            <a:ext cx="840509" cy="358122"/>
          </a:xfrm>
          <a:prstGeom prst="bentConnector3">
            <a:avLst/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9F3176CB-FBA9-73FF-7ABD-A89DE0255E43}"/>
              </a:ext>
            </a:extLst>
          </p:cNvPr>
          <p:cNvCxnSpPr/>
          <p:nvPr/>
        </p:nvCxnSpPr>
        <p:spPr>
          <a:xfrm flipV="1">
            <a:off x="3851564" y="1690688"/>
            <a:ext cx="4156363" cy="1345979"/>
          </a:xfrm>
          <a:prstGeom prst="bentConnector3">
            <a:avLst>
              <a:gd name="adj1" fmla="val 17111"/>
            </a:avLst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83C4B09F-549F-BF3F-707E-CA09C683AF46}"/>
              </a:ext>
            </a:extLst>
          </p:cNvPr>
          <p:cNvCxnSpPr>
            <a:cxnSpLocks/>
          </p:cNvCxnSpPr>
          <p:nvPr/>
        </p:nvCxnSpPr>
        <p:spPr>
          <a:xfrm>
            <a:off x="7994081" y="1692782"/>
            <a:ext cx="3006430" cy="1287681"/>
          </a:xfrm>
          <a:prstGeom prst="bentConnector3">
            <a:avLst>
              <a:gd name="adj1" fmla="val 99770"/>
            </a:avLst>
          </a:prstGeom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224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0471" y="551104"/>
            <a:ext cx="12222866" cy="57557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6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ru-RU" sz="6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ru-RU" sz="3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Мы обнаружили утечку памяти, но забыли, где</a:t>
            </a:r>
            <a:endParaRPr lang="ru-RU" sz="78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6000" dirty="0">
                <a:solidFill>
                  <a:srgbClr val="00EEFF"/>
                </a:solidFill>
                <a:latin typeface="Consolas" panose="020B0609020204030204" pitchFamily="49" charset="0"/>
              </a:rPr>
              <a:t>if</a:t>
            </a: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mission</a:t>
            </a: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==</a:t>
            </a: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 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"complete”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	Print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“THE END”)</a:t>
            </a:r>
            <a:endParaRPr lang="en-US" sz="6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	Print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“Thanks for watching”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ru-RU" sz="6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en-US" sz="6000" dirty="0">
                <a:solidFill>
                  <a:srgbClr val="FF66FF"/>
                </a:solidFill>
                <a:latin typeface="Consolas" panose="020B0609020204030204" pitchFamily="49" charset="0"/>
              </a:rPr>
              <a:t>Print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“</a:t>
            </a:r>
            <a:r>
              <a:rPr lang="en-US" sz="6000" dirty="0" err="1">
                <a:solidFill>
                  <a:srgbClr val="00FF99"/>
                </a:solidFill>
                <a:latin typeface="Consolas" panose="020B0609020204030204" pitchFamily="49" charset="0"/>
              </a:rPr>
              <a:t>RUDnik</a:t>
            </a:r>
            <a:r>
              <a:rPr lang="en-US" sz="6000" dirty="0">
                <a:solidFill>
                  <a:srgbClr val="00FF99"/>
                </a:solidFill>
                <a:latin typeface="Consolas" panose="020B0609020204030204" pitchFamily="49" charset="0"/>
              </a:rPr>
              <a:t> team”</a:t>
            </a:r>
            <a:r>
              <a:rPr lang="en-US" sz="60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ru-RU" sz="6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6000" dirty="0">
                <a:solidFill>
                  <a:srgbClr val="00EEFF"/>
                </a:solidFill>
                <a:latin typeface="Consolas" panose="020B0609020204030204" pitchFamily="49" charset="0"/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19851652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942</Words>
  <Application>Microsoft Office PowerPoint</Application>
  <PresentationFormat>Широкоэкранный</PresentationFormat>
  <Paragraphs>139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Тема Office</vt:lpstr>
      <vt:lpstr>Презентация PowerPoint</vt:lpstr>
      <vt:lpstr>&lt;/Проблема&gt;</vt:lpstr>
      <vt:lpstr>&lt;/Решение: SputnikSim&gt;</vt:lpstr>
      <vt:lpstr>&lt;/Как это работает&gt;</vt:lpstr>
      <vt:lpstr>&lt;/Технология ИИ&gt;</vt:lpstr>
      <vt:lpstr>&lt;/Технология ИИ&gt;</vt:lpstr>
      <vt:lpstr>&lt;/Уникальность&gt;</vt:lpstr>
      <vt:lpstr>&lt;/Конкурентное сравнение&gt;</vt:lpstr>
      <vt:lpstr>Презентация PowerPoint</vt:lpstr>
      <vt:lpstr>Презентация PowerPoint</vt:lpstr>
      <vt:lpstr>Презентация PowerPoint</vt:lpstr>
      <vt:lpstr>Презентация PowerPoint</vt:lpstr>
      <vt:lpstr>&lt;Ключевые метрики&gt; (цели на 2026-2027 год)</vt:lpstr>
      <vt:lpstr>&lt;/Команда RUDnik&gt;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</dc:creator>
  <cp:lastModifiedBy>Лицей 4 Школа</cp:lastModifiedBy>
  <cp:revision>90</cp:revision>
  <dcterms:created xsi:type="dcterms:W3CDTF">2026-02-21T15:57:04Z</dcterms:created>
  <dcterms:modified xsi:type="dcterms:W3CDTF">2026-02-25T11:53:48Z</dcterms:modified>
</cp:coreProperties>
</file>