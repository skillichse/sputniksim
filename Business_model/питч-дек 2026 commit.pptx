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type="screen16x9" cy="6858000" cx="12192000"/>
  <p:notesSz cx="6858000" cy="9144000"/>
  <p:defaultTextStyle>
    <a:defPPr>
      <a:defRPr lang="ru-RU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 xmlns:r="http://schemas.openxmlformats.org/officeDocument/2006/relationships" xmlns:a="http://schemas.openxmlformats.org/drawingml/2006/main">
  <p:cmAuthor id="1" name="админ" initials="а" lastIdx="1" clrIdx="0"/>
</p:cmAuthorLst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FF66FF"/>
    <a:srgbClr val="00EEFF"/>
    <a:srgbClr val="00FF99"/>
    <a:srgbClr val="080C10"/>
    <a:srgbClr val="131B1D"/>
    <a:srgbClr val="101418"/>
    <a:srgbClr val="182A39"/>
    <a:srgbClr val="A8E4FF"/>
    <a:srgbClr val="273B49"/>
    <a:srgbClr val="181E6A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2002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1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tableStyles" Target="tableStyle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commentAuthors" Target="commentAuthors.xml"/><Relationship Id="rId2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4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7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7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Титульный слайд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48582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04858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0EBB154-D048-44FA-A144-453A9CDD0B25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104858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58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Заголовок и объект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/>
              <a:t>Образец заголовка</a:t>
            </a:r>
          </a:p>
        </p:txBody>
      </p:sp>
      <p:sp>
        <p:nvSpPr>
          <p:cNvPr id="1048590" name="Объект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591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0EBB154-D048-44FA-A144-453A9CDD0B25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1048592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593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Заголовок раздела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48645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46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0EBB154-D048-44FA-A144-453A9CDD0B25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1048647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48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Два объекта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/>
              <a:t>Образец заголовка</a:t>
            </a:r>
          </a:p>
        </p:txBody>
      </p:sp>
      <p:sp>
        <p:nvSpPr>
          <p:cNvPr id="1048650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51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52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0EBB154-D048-44FA-A144-453A9CDD0B25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1048653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54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Сравнение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ru-RU"/>
              <a:t>Образец заголовка</a:t>
            </a:r>
          </a:p>
        </p:txBody>
      </p:sp>
      <p:sp>
        <p:nvSpPr>
          <p:cNvPr id="1048656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57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58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59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60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0EBB154-D048-44FA-A144-453A9CDD0B25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1048661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62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Только заголовок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/>
              <a:t>Образец заголовка</a:t>
            </a:r>
          </a:p>
        </p:txBody>
      </p:sp>
      <p:sp>
        <p:nvSpPr>
          <p:cNvPr id="1048625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0EBB154-D048-44FA-A144-453A9CDD0B25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1048626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27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Пустой слайд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0EBB154-D048-44FA-A144-453A9CDD0B25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1048664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65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Объект с подписью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48667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68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69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0EBB154-D048-44FA-A144-453A9CDD0B25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1048670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71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Рисунок с подписью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48634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ru-RU"/>
          </a:p>
        </p:txBody>
      </p:sp>
      <p:sp>
        <p:nvSpPr>
          <p:cNvPr id="1048635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36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0EBB154-D048-44FA-A144-453A9CDD0B25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1048637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38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Заголовок и вертикальный текст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/>
              <a:t>Образец заголовка</a:t>
            </a:r>
          </a:p>
        </p:txBody>
      </p:sp>
      <p:sp>
        <p:nvSpPr>
          <p:cNvPr id="1048640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41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0EBB154-D048-44FA-A144-453A9CDD0B25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1048642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43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Вертикальный заголовок и текст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ru-RU"/>
              <a:t>Образец заголовка</a:t>
            </a:r>
          </a:p>
        </p:txBody>
      </p:sp>
      <p:sp>
        <p:nvSpPr>
          <p:cNvPr id="1048629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30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0EBB154-D048-44FA-A144-453A9CDD0B25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1048631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32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0"/>
        </a:solidFill>
        <a:effectLst/>
      </p:bgPr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ru-RU"/>
              <a:t>Образец заголовка</a:t>
            </a:r>
          </a:p>
        </p:txBody>
      </p:sp>
      <p:sp>
        <p:nvSpPr>
          <p:cNvPr id="1048577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578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BB154-D048-44FA-A144-453A9CDD0B25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1048579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48580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Заголовок 1"/>
          <p:cNvSpPr>
            <a:spLocks noGrp="1"/>
          </p:cNvSpPr>
          <p:nvPr>
            <p:ph type="ctrTitle"/>
          </p:nvPr>
        </p:nvSpPr>
        <p:spPr>
          <a:xfrm>
            <a:off x="2559269" y="1039253"/>
            <a:ext cx="7073462" cy="1187611"/>
          </a:xfrm>
        </p:spPr>
        <p:txBody>
          <a:bodyPr>
            <a:noAutofit/>
          </a:bodyPr>
          <a:p>
            <a:r>
              <a:rPr b="1" sz="8800" lang="en-US">
                <a:solidFill>
                  <a:srgbClr val="00FF99"/>
                </a:solidFill>
                <a:latin typeface="Consolas" panose="020B0609020204030204" pitchFamily="49" charset="0"/>
              </a:rPr>
              <a:t>SputnikSim</a:t>
            </a:r>
            <a:endParaRPr sz="8800" lang="ru-RU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sp>
        <p:nvSpPr>
          <p:cNvPr id="1048587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33754" y="3796833"/>
            <a:ext cx="10724492" cy="2039065"/>
          </a:xfrm>
        </p:spPr>
        <p:txBody>
          <a:bodyPr>
            <a:noAutofit/>
          </a:bodyPr>
          <a:p>
            <a:r>
              <a:rPr b="1" sz="3600" lang="ru-RU">
                <a:solidFill>
                  <a:srgbClr val="A8E4FF"/>
                </a:solidFill>
                <a:latin typeface="Consolas" panose="020B0609020204030204" pitchFamily="49" charset="0"/>
              </a:rPr>
              <a:t>Тренажёр анализа и коррекции орбит геостационарных спутников</a:t>
            </a:r>
            <a:r>
              <a:rPr sz="3600" lang="ru-RU">
                <a:solidFill>
                  <a:srgbClr val="A8E4FF"/>
                </a:solidFill>
                <a:latin typeface="Consolas" panose="020B0609020204030204" pitchFamily="49" charset="0"/>
              </a:rPr>
              <a:t> на основе реальных данных и 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Рисунок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82111" y="24474"/>
            <a:ext cx="12109889" cy="6809051"/>
          </a:xfrm>
          <a:prstGeom prst="rect"/>
          <a:ln>
            <a:noFill/>
          </a:ln>
          <a:effectLst>
            <a:outerShdw algn="tl" blurRad="292100" dir="2700000" dist="139700" rotWithShape="0">
              <a:srgbClr val="333333">
                <a:alpha val="65000"/>
              </a:srgbClr>
            </a:outerShdw>
          </a:effectLst>
        </p:spPr>
      </p:pic>
      <p:sp>
        <p:nvSpPr>
          <p:cNvPr id="1048588" name="Заголовок 1"/>
          <p:cNvSpPr txBox="1"/>
          <p:nvPr/>
        </p:nvSpPr>
        <p:spPr>
          <a:xfrm>
            <a:off x="260787" y="1019503"/>
            <a:ext cx="10154965" cy="1954924"/>
          </a:xfrm>
          <a:prstGeom prst="rect"/>
          <a:noFill/>
          <a:ln>
            <a:noFill/>
          </a:ln>
          <a:scene3d>
            <a:camera prst="orthographicFront"/>
            <a:lightRig dir="t" rig="threePt"/>
          </a:scene3d>
          <a:sp3d>
            <a:bevelT w="0" h="0"/>
          </a:sp3d>
        </p:spPr>
        <p:txBody>
          <a:bodyPr anchor="b" bIns="45720" lIns="91440" rIns="91440" rtlCol="0" tIns="45720" vert="horz">
            <a:noAutofit/>
          </a:bodyPr>
          <a:lstStyle>
            <a:lvl1pPr algn="ctr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sz="13800" lang="en-US">
                <a:solidFill>
                  <a:srgbClr val="00FF99"/>
                </a:solidFill>
                <a:latin typeface="Consolas" panose="020B0609020204030204" pitchFamily="49" charset="0"/>
              </a:rPr>
              <a:t>SputnikSim</a:t>
            </a:r>
            <a:endParaRPr sz="13800" lang="ru-RU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Заголовок 1"/>
          <p:cNvSpPr>
            <a:spLocks noGrp="1"/>
          </p:cNvSpPr>
          <p:nvPr>
            <p:ph type="title"/>
          </p:nvPr>
        </p:nvSpPr>
        <p:spPr>
          <a:xfrm>
            <a:off x="838200" y="201930"/>
            <a:ext cx="10515600" cy="841883"/>
          </a:xfrm>
        </p:spPr>
        <p:txBody>
          <a:bodyPr>
            <a:noAutofit/>
          </a:bodyPr>
          <a:p>
            <a:r>
              <a:rPr b="1" sz="7200" lang="en-US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b="1" sz="7200" lang="ru-RU">
                <a:solidFill>
                  <a:srgbClr val="00FF99"/>
                </a:solidFill>
                <a:latin typeface="Consolas" panose="020B0609020204030204" pitchFamily="49" charset="0"/>
              </a:rPr>
              <a:t>/Проблема</a:t>
            </a:r>
            <a:r>
              <a:rPr b="1" sz="7200" lang="en-US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b="1" sz="6000" lang="ru-RU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4194304" name="Объект 4"/>
          <p:cNvGraphicFramePr>
            <a:graphicFrameLocks noGrp="1"/>
          </p:cNvGraphicFramePr>
          <p:nvPr>
            <p:ph idx="1"/>
          </p:nvPr>
        </p:nvGraphicFramePr>
        <p:xfrm>
          <a:off x="598932" y="2116182"/>
          <a:ext cx="10994136" cy="46074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56620"/>
                <a:gridCol w="7537516"/>
              </a:tblGrid>
              <a:tr h="805694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800" lang="ru-RU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Проблема</a:t>
                      </a:r>
                      <a:endParaRPr sz="2800" lang="ru-RU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080C10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sz="2400" lang="ru-RU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131B1D"/>
                    </a:solidFill>
                  </a:tcPr>
                </a:tc>
              </a:tr>
              <a:tr h="1259741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lang="ru-RU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Высокая стоимость ошибки</a:t>
                      </a:r>
                      <a:endParaRPr sz="2400" lang="ru-RU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080C10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lang="ru-RU">
                          <a:solidFill>
                            <a:srgbClr val="00EEFF"/>
                          </a:solidFill>
                          <a:effectLst/>
                        </a:rPr>
                        <a:t>Потеря KazSat-1: $65 млн и 2 года судов со страховщиками.</a:t>
                      </a:r>
                      <a:endParaRPr sz="2400" lang="ru-RU">
                        <a:solidFill>
                          <a:srgbClr val="00EE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131B1D"/>
                    </a:solidFill>
                  </a:tcPr>
                </a:tc>
              </a:tr>
              <a:tr h="1404242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lang="ru-RU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Нехватка опытных кадров</a:t>
                      </a:r>
                      <a:endParaRPr sz="2400" lang="ru-RU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080C10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lang="ru-RU">
                          <a:solidFill>
                            <a:srgbClr val="00EEFF"/>
                          </a:solidFill>
                          <a:effectLst/>
                        </a:rPr>
                        <a:t>Система подготовки только формируется, учиться на реальных спутниках — значит рисковать ими.</a:t>
                      </a:r>
                      <a:endParaRPr sz="2400" lang="ru-RU">
                        <a:solidFill>
                          <a:srgbClr val="00EE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131B1D"/>
                    </a:solidFill>
                  </a:tcPr>
                </a:tc>
              </a:tr>
              <a:tr h="1137761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lang="ru-RU">
                          <a:solidFill>
                            <a:srgbClr val="00FF99"/>
                          </a:solidFill>
                          <a:effectLst/>
                        </a:rPr>
                        <a:t>Сложность прогнозирования</a:t>
                      </a:r>
                      <a:endParaRPr sz="2400" lang="ru-RU">
                        <a:solidFill>
                          <a:srgbClr val="00FF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080C10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lang="ru-RU">
                          <a:solidFill>
                            <a:srgbClr val="00EEFF"/>
                          </a:solidFill>
                          <a:effectLst/>
                        </a:rPr>
                        <a:t>Инцидент с KazSat-3: прогнозируемое явление (тень) привело к отключению связи по всей стране.</a:t>
                      </a:r>
                      <a:endParaRPr sz="2400" lang="ru-RU">
                        <a:solidFill>
                          <a:srgbClr val="00EE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131B1D"/>
                    </a:solidFill>
                  </a:tcPr>
                </a:tc>
              </a:tr>
            </a:tbl>
          </a:graphicData>
        </a:graphic>
      </p:graphicFrame>
      <p:sp>
        <p:nvSpPr>
          <p:cNvPr id="1048595" name="Прямоугольник 2"/>
          <p:cNvSpPr/>
          <p:nvPr/>
        </p:nvSpPr>
        <p:spPr>
          <a:xfrm>
            <a:off x="598932" y="1043813"/>
            <a:ext cx="10994136" cy="1107440"/>
          </a:xfrm>
          <a:prstGeom prst="rect"/>
        </p:spPr>
        <p:txBody>
          <a:bodyPr wrap="square">
            <a:spAutoFit/>
          </a:bodyPr>
          <a:p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Геостационарная орбита (GEO) является одним из наиболее ценных и ограниченных ресурсов современной космической инфраструктуры. Эксплуатация спутников требует постоянного контроля их орбитального состояния.</a:t>
            </a:r>
          </a:p>
          <a:p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Заголовок 1"/>
          <p:cNvSpPr>
            <a:spLocks noGrp="1"/>
          </p:cNvSpPr>
          <p:nvPr>
            <p:ph type="title"/>
          </p:nvPr>
        </p:nvSpPr>
        <p:spPr>
          <a:xfrm>
            <a:off x="261258" y="219456"/>
            <a:ext cx="10238576" cy="823595"/>
          </a:xfrm>
        </p:spPr>
        <p:txBody>
          <a:bodyPr>
            <a:noAutofit/>
          </a:bodyPr>
          <a:p>
            <a:r>
              <a:rPr b="1" sz="6000" lang="en-US">
                <a:solidFill>
                  <a:srgbClr val="00FF99"/>
                </a:solidFill>
                <a:latin typeface="Consolas" panose="020B0609020204030204" pitchFamily="49" charset="0"/>
              </a:rPr>
              <a:t>&lt;/</a:t>
            </a:r>
            <a:r>
              <a:rPr b="1" sz="6000" lang="ru-RU">
                <a:solidFill>
                  <a:srgbClr val="00FF99"/>
                </a:solidFill>
                <a:latin typeface="Consolas" panose="020B0609020204030204" pitchFamily="49" charset="0"/>
              </a:rPr>
              <a:t>Решение: </a:t>
            </a:r>
            <a:r>
              <a:rPr b="1" sz="6000" lang="en-US">
                <a:solidFill>
                  <a:srgbClr val="00FF99"/>
                </a:solidFill>
                <a:latin typeface="Consolas" panose="020B0609020204030204" pitchFamily="49" charset="0"/>
              </a:rPr>
              <a:t>SputnikSim&gt;</a:t>
            </a:r>
            <a:endParaRPr sz="6000" lang="ru-RU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sp>
        <p:nvSpPr>
          <p:cNvPr id="1048597" name="Объект 2"/>
          <p:cNvSpPr>
            <a:spLocks noGrp="1"/>
          </p:cNvSpPr>
          <p:nvPr>
            <p:ph idx="1"/>
          </p:nvPr>
        </p:nvSpPr>
        <p:spPr>
          <a:xfrm>
            <a:off x="261257" y="1460726"/>
            <a:ext cx="11773088" cy="5076707"/>
          </a:xfrm>
        </p:spPr>
        <p:txBody>
          <a:bodyPr>
            <a:normAutofit/>
          </a:bodyPr>
          <a:p>
            <a:pPr indent="0" marL="0">
              <a:buNone/>
            </a:pP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Интерактивный тренажёр анализа и коррекции орбит геостационарных спутников.</a:t>
            </a:r>
          </a:p>
          <a:p>
            <a:pPr indent="0" marL="0">
              <a:buNone/>
            </a:pP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Основные функции:</a:t>
            </a:r>
          </a:p>
          <a:p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Загрузка реальных данных любого спутника из каталога NORAD (по номеру или названию)</a:t>
            </a:r>
          </a:p>
          <a:p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Автоматический анализ орбитальных аномалий с помощью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нейросети</a:t>
            </a:r>
            <a:endParaRPr lang="ru-RU">
              <a:solidFill>
                <a:srgbClr val="00EEFF"/>
              </a:solidFill>
              <a:latin typeface="Consolas" panose="020B0609020204030204" pitchFamily="49" charset="0"/>
            </a:endParaRPr>
          </a:p>
          <a:p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Отработка коррекций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North-South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 /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East-West</a:t>
            </a:r>
            <a:endParaRPr lang="ru-RU">
              <a:solidFill>
                <a:srgbClr val="00EEFF"/>
              </a:solidFill>
              <a:latin typeface="Consolas" panose="020B0609020204030204" pitchFamily="49" charset="0"/>
            </a:endParaRPr>
          </a:p>
          <a:p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Ускоренное время (часы и сутки с шагом в минуты)</a:t>
            </a:r>
          </a:p>
          <a:p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Наглядная обратная связь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Заголовок 1"/>
          <p:cNvSpPr>
            <a:spLocks noGrp="1"/>
          </p:cNvSpPr>
          <p:nvPr>
            <p:ph type="title"/>
          </p:nvPr>
        </p:nvSpPr>
        <p:spPr>
          <a:xfrm>
            <a:off x="341375" y="0"/>
            <a:ext cx="8340169" cy="774191"/>
          </a:xfrm>
        </p:spPr>
        <p:txBody>
          <a:bodyPr>
            <a:noAutofit/>
          </a:bodyPr>
          <a:p>
            <a:r>
              <a:rPr b="1" sz="6000" lang="en-US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b="1" sz="6000" lang="ru-RU">
                <a:solidFill>
                  <a:srgbClr val="00FF99"/>
                </a:solidFill>
                <a:latin typeface="Consolas" panose="020B0609020204030204" pitchFamily="49" charset="0"/>
              </a:rPr>
              <a:t>/Как это работает</a:t>
            </a:r>
            <a:r>
              <a:rPr b="1" sz="6000" lang="en-US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b="1" sz="6000" lang="ru-RU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sp>
        <p:nvSpPr>
          <p:cNvPr id="1048599" name="Объект 2"/>
          <p:cNvSpPr>
            <a:spLocks noGrp="1"/>
          </p:cNvSpPr>
          <p:nvPr>
            <p:ph idx="1"/>
          </p:nvPr>
        </p:nvSpPr>
        <p:spPr>
          <a:xfrm>
            <a:off x="179832" y="983165"/>
            <a:ext cx="5630418" cy="3117962"/>
          </a:xfrm>
        </p:spPr>
        <p:txBody>
          <a:bodyPr>
            <a:normAutofit/>
          </a:bodyPr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Выбор спутника</a:t>
            </a:r>
            <a:r>
              <a:rPr b="1" lang="en-US">
                <a:solidFill>
                  <a:srgbClr val="00EEFF"/>
                </a:solidFill>
                <a:latin typeface="Consolas" panose="020B0609020204030204" pitchFamily="49" charset="0"/>
              </a:rPr>
              <a:t> 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по </a:t>
            </a:r>
            <a:r>
              <a:rPr lang="en-US">
                <a:solidFill>
                  <a:srgbClr val="00EEFF"/>
                </a:solidFill>
                <a:latin typeface="Consolas" panose="020B0609020204030204" pitchFamily="49" charset="0"/>
              </a:rPr>
              <a:t>NORAD ID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: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sat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 37820 (INTELSAT)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Анализ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: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нейросеть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 показывает отклонение наклонения +2.66°, рекомендует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North-South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 коррекцию</a:t>
            </a:r>
          </a:p>
        </p:txBody>
      </p:sp>
      <p:pic>
        <p:nvPicPr>
          <p:cNvPr id="2097153" name="Рисунок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41375" y="4310101"/>
            <a:ext cx="4695825" cy="2047875"/>
          </a:xfrm>
          <a:prstGeom prst="rect"/>
        </p:spPr>
      </p:pic>
      <p:pic>
        <p:nvPicPr>
          <p:cNvPr id="2097154" name="Рисунок 4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324048" y="3429000"/>
            <a:ext cx="5553075" cy="3390900"/>
          </a:xfrm>
          <a:prstGeom prst="rect"/>
        </p:spPr>
      </p:pic>
      <p:sp>
        <p:nvSpPr>
          <p:cNvPr id="1048600" name="Объект 2"/>
          <p:cNvSpPr txBox="1"/>
          <p:nvPr/>
        </p:nvSpPr>
        <p:spPr>
          <a:xfrm>
            <a:off x="6324048" y="979590"/>
            <a:ext cx="5630418" cy="2857501"/>
          </a:xfrm>
          <a:prstGeom prst="rect"/>
        </p:spPr>
        <p:txBody>
          <a:bodyPr bIns="45720" lIns="91440" rIns="91440" rtlCol="0" tIns="45720" vert="horz">
            <a:normAutofit/>
          </a:bodyPr>
          <a:lstStyle>
            <a:lvl1pPr algn="l" defTabSz="914400" eaLnBrk="1" hangingPunct="1" indent="-228600" latinLnBrk="0" marL="228600" rtl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indent="-228600" latinLnBrk="0" marL="6858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indent="-228600" latinLnBrk="0" marL="11430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indent="-228600" latinLnBrk="0" marL="16002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indent="-228600" latinLnBrk="0" marL="20574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indent="-228600" latinLnBrk="0" marL="25146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indent="-228600" latinLnBrk="0" marL="29718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indent="-228600" latinLnBrk="0" marL="34290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indent="-228600" latinLnBrk="0" marL="38862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lang="ru-RU">
                <a:solidFill>
                  <a:srgbClr val="00EEFF"/>
                </a:solidFill>
              </a:rPr>
              <a:t>Коррекция</a:t>
            </a:r>
            <a:r>
              <a:rPr lang="ru-RU">
                <a:solidFill>
                  <a:srgbClr val="00EEFF"/>
                </a:solidFill>
              </a:rPr>
              <a:t>: пользователь выбирает </a:t>
            </a:r>
            <a:r>
              <a:rPr lang="ru-RU" err="1">
                <a:solidFill>
                  <a:srgbClr val="00EEFF"/>
                </a:solidFill>
              </a:rPr>
              <a:t>delta</a:t>
            </a:r>
            <a:r>
              <a:rPr lang="ru-RU">
                <a:solidFill>
                  <a:srgbClr val="00EEFF"/>
                </a:solidFill>
              </a:rPr>
              <a:t>, указывает параметры 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Результат</a:t>
            </a:r>
            <a:r>
              <a:rPr lang="ru-RU">
                <a:solidFill>
                  <a:srgbClr val="00EEFF"/>
                </a:solidFill>
              </a:rPr>
              <a:t>: успех / частичный успех / потеря спутника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Заголовок 1"/>
          <p:cNvSpPr>
            <a:spLocks noGrp="1"/>
          </p:cNvSpPr>
          <p:nvPr>
            <p:ph type="title"/>
          </p:nvPr>
        </p:nvSpPr>
        <p:spPr>
          <a:xfrm>
            <a:off x="386256" y="441434"/>
            <a:ext cx="10515600" cy="739775"/>
          </a:xfrm>
        </p:spPr>
        <p:txBody>
          <a:bodyPr>
            <a:noAutofit/>
          </a:bodyPr>
          <a:p>
            <a:r>
              <a:rPr b="1" sz="7200" lang="en-US">
                <a:solidFill>
                  <a:srgbClr val="00FF99"/>
                </a:solidFill>
                <a:latin typeface="Consolas" panose="020B0609020204030204" pitchFamily="49" charset="0"/>
              </a:rPr>
              <a:t>&lt;/</a:t>
            </a:r>
            <a:r>
              <a:rPr b="1" sz="7200" lang="ru-RU">
                <a:solidFill>
                  <a:srgbClr val="00FF99"/>
                </a:solidFill>
                <a:latin typeface="Consolas" panose="020B0609020204030204" pitchFamily="49" charset="0"/>
              </a:rPr>
              <a:t>Технология ИИ</a:t>
            </a:r>
            <a:r>
              <a:rPr b="1" sz="7200" lang="en-US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b="1" sz="7200" lang="ru-RU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sp>
        <p:nvSpPr>
          <p:cNvPr id="1048602" name="Объект 2"/>
          <p:cNvSpPr>
            <a:spLocks noGrp="1"/>
          </p:cNvSpPr>
          <p:nvPr>
            <p:ph idx="1"/>
          </p:nvPr>
        </p:nvSpPr>
        <p:spPr>
          <a:xfrm>
            <a:off x="304800" y="1614652"/>
            <a:ext cx="11582400" cy="4991100"/>
          </a:xfrm>
        </p:spPr>
        <p:txBody>
          <a:bodyPr>
            <a:normAutofit/>
          </a:bodyPr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Архитектура: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 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автоэнкодер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 (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PyTorch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) –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нейросеть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, обучающаяся восстанавливать входные параметры орбиты.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Обучающий набор:</a:t>
            </a:r>
            <a:b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</a:br>
            <a:r>
              <a:rPr i="1" lang="ru-RU">
                <a:solidFill>
                  <a:srgbClr val="00EEFF"/>
                </a:solidFill>
                <a:latin typeface="Consolas" panose="020B0609020204030204" pitchFamily="49" charset="0"/>
              </a:rPr>
              <a:t>12 872 записи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 — комбинация синтетических и реальных данных:</a:t>
            </a:r>
          </a:p>
          <a:p>
            <a:pPr lvl="1"/>
            <a:r>
              <a:rPr sz="2800" lang="ru-RU">
                <a:solidFill>
                  <a:srgbClr val="00EEFF"/>
                </a:solidFill>
                <a:latin typeface="Consolas" panose="020B0609020204030204" pitchFamily="49" charset="0"/>
              </a:rPr>
              <a:t>12 000 синтетических TLE, сгенерированных на основе реальных орбитальных распределений (GEO, MEO, LEO), что позволило создать сбалансированную выборку с разными сценариями.</a:t>
            </a:r>
          </a:p>
          <a:p>
            <a:pPr lvl="1"/>
            <a:r>
              <a:rPr sz="2800" lang="ru-RU">
                <a:solidFill>
                  <a:srgbClr val="00EEFF"/>
                </a:solidFill>
                <a:latin typeface="Consolas" panose="020B0609020204030204" pitchFamily="49" charset="0"/>
              </a:rPr>
              <a:t>872 реальные TLE-записи действующих спутников и космических объектов (NORAD-каталог), чтобы модель «видела» настоящие данные.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Объект 2"/>
          <p:cNvSpPr>
            <a:spLocks noGrp="1"/>
          </p:cNvSpPr>
          <p:nvPr>
            <p:ph idx="1"/>
          </p:nvPr>
        </p:nvSpPr>
        <p:spPr>
          <a:xfrm>
            <a:off x="304800" y="1646183"/>
            <a:ext cx="11582400" cy="5600700"/>
          </a:xfrm>
        </p:spPr>
        <p:txBody>
          <a:bodyPr>
            <a:normAutofit/>
          </a:bodyPr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Принцип работы</a:t>
            </a:r>
            <a:r>
              <a:rPr b="1" lang="en-US">
                <a:solidFill>
                  <a:srgbClr val="00EEFF"/>
                </a:solidFill>
                <a:latin typeface="Consolas" panose="020B0609020204030204" pitchFamily="49" charset="0"/>
              </a:rPr>
              <a:t> Vega 1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.</a:t>
            </a:r>
            <a:r>
              <a:rPr b="1" lang="en-US">
                <a:solidFill>
                  <a:srgbClr val="00EEFF"/>
                </a:solidFill>
                <a:latin typeface="Consolas" panose="020B0609020204030204" pitchFamily="49" charset="0"/>
              </a:rPr>
              <a:t>0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b="1" lang="en-US">
                <a:solidFill>
                  <a:srgbClr val="00EEFF"/>
                </a:solidFill>
                <a:latin typeface="Consolas" panose="020B0609020204030204" pitchFamily="49" charset="0"/>
              </a:rPr>
              <a:t>Vega 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восстанавливает параметры орбиты. Если объект аномален (например, космический мусор или спутник с отклонениями), ошибка восстановления резко возрастает – так происходит автоматическая </a:t>
            </a:r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детекция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 аномалий.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Единая </a:t>
            </a:r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нейросеть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 – две задачи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Классификация объектов: спутник / мусор – точность 91.3%</a:t>
            </a:r>
          </a:p>
          <a:p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Детекция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 орбитальных аномалий – точность 81.8%, F1 85%</a:t>
            </a:r>
          </a:p>
          <a:p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Валидация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 на 516 реальных объектах, включая фрагменты разрушений (Cosmos‑1408, Fengyun‑1C и др.)</a:t>
            </a:r>
          </a:p>
        </p:txBody>
      </p:sp>
      <p:sp>
        <p:nvSpPr>
          <p:cNvPr id="1048604" name="Заголовок 1"/>
          <p:cNvSpPr>
            <a:spLocks noGrp="1"/>
          </p:cNvSpPr>
          <p:nvPr>
            <p:ph type="title"/>
          </p:nvPr>
        </p:nvSpPr>
        <p:spPr>
          <a:xfrm>
            <a:off x="386256" y="441434"/>
            <a:ext cx="10515600" cy="739775"/>
          </a:xfrm>
        </p:spPr>
        <p:txBody>
          <a:bodyPr>
            <a:noAutofit/>
          </a:bodyPr>
          <a:p>
            <a:r>
              <a:rPr b="1" sz="7200" lang="en-US">
                <a:solidFill>
                  <a:srgbClr val="00FF99"/>
                </a:solidFill>
                <a:latin typeface="Consolas" panose="020B0609020204030204" pitchFamily="49" charset="0"/>
              </a:rPr>
              <a:t>&lt;/</a:t>
            </a:r>
            <a:r>
              <a:rPr b="1" sz="7200" lang="ru-RU">
                <a:solidFill>
                  <a:srgbClr val="00FF99"/>
                </a:solidFill>
                <a:latin typeface="Consolas" panose="020B0609020204030204" pitchFamily="49" charset="0"/>
              </a:rPr>
              <a:t>Технология ИИ</a:t>
            </a:r>
            <a:r>
              <a:rPr b="1" sz="7200" lang="en-US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b="1" sz="7200" lang="ru-RU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Объект 2"/>
          <p:cNvSpPr>
            <a:spLocks noGrp="1"/>
          </p:cNvSpPr>
          <p:nvPr>
            <p:ph idx="1"/>
          </p:nvPr>
        </p:nvSpPr>
        <p:spPr>
          <a:xfrm>
            <a:off x="386256" y="1636438"/>
            <a:ext cx="11091041" cy="5032375"/>
          </a:xfrm>
        </p:spPr>
        <p:txBody>
          <a:bodyPr>
            <a:noAutofit/>
          </a:bodyPr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Нейросетевой анализ: вместо простого сравнения с эталоном наш ИИ выявляет скрытые закономерности и аномалии, что повышает точность диагностики.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Реализм: работа с реальными TLE-данными, а не с абстрактными математическими моделями.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Доступность: работает на обычном ПК, не требует дорогостоящего оборудования и может использоваться как в образовательных учреждениях, так и индивидуально.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Гибкость: возможность частичной коррекции, симуляции различных сценариев, расчет затрат топлива на коррекцию.</a:t>
            </a:r>
          </a:p>
        </p:txBody>
      </p:sp>
      <p:sp>
        <p:nvSpPr>
          <p:cNvPr id="1048606" name="Заголовок 1"/>
          <p:cNvSpPr>
            <a:spLocks noGrp="1"/>
          </p:cNvSpPr>
          <p:nvPr>
            <p:ph type="title"/>
          </p:nvPr>
        </p:nvSpPr>
        <p:spPr>
          <a:xfrm>
            <a:off x="386256" y="441434"/>
            <a:ext cx="10515600" cy="739775"/>
          </a:xfrm>
        </p:spPr>
        <p:txBody>
          <a:bodyPr>
            <a:noAutofit/>
          </a:bodyPr>
          <a:p>
            <a:r>
              <a:rPr b="1" sz="7200" lang="en-US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b="1" sz="7200" lang="ru-RU">
                <a:solidFill>
                  <a:srgbClr val="00FF99"/>
                </a:solidFill>
                <a:latin typeface="Consolas" panose="020B0609020204030204" pitchFamily="49" charset="0"/>
              </a:rPr>
              <a:t>/Уникальность</a:t>
            </a:r>
            <a:r>
              <a:rPr b="1" sz="7200" lang="en-US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b="1" sz="7200" lang="ru-RU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Заголовок 1"/>
          <p:cNvSpPr>
            <a:spLocks noGrp="1"/>
          </p:cNvSpPr>
          <p:nvPr>
            <p:ph type="title"/>
          </p:nvPr>
        </p:nvSpPr>
        <p:spPr>
          <a:xfrm>
            <a:off x="838200" y="-31556"/>
            <a:ext cx="10515600" cy="784406"/>
          </a:xfrm>
        </p:spPr>
        <p:txBody>
          <a:bodyPr>
            <a:noAutofit/>
          </a:bodyPr>
          <a:p>
            <a:pPr algn="ctr"/>
            <a:r>
              <a:rPr b="1" sz="5400" lang="en-US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b="1" sz="5400" lang="ru-RU">
                <a:solidFill>
                  <a:srgbClr val="00FF99"/>
                </a:solidFill>
                <a:latin typeface="Consolas" panose="020B0609020204030204" pitchFamily="49" charset="0"/>
              </a:rPr>
              <a:t>/Конкурентное сравнение</a:t>
            </a:r>
            <a:r>
              <a:rPr b="1" sz="5400" lang="en-US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b="1" sz="5400" lang="ru-RU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4194305" name="Объект 5"/>
          <p:cNvGraphicFramePr>
            <a:graphicFrameLocks noGrp="1"/>
          </p:cNvGraphicFramePr>
          <p:nvPr>
            <p:ph idx="1"/>
          </p:nvPr>
        </p:nvGraphicFramePr>
        <p:xfrm>
          <a:off x="0" y="752850"/>
          <a:ext cx="12192000" cy="5655014"/>
        </p:xfrm>
        <a:graphic>
          <a:graphicData uri="http://schemas.openxmlformats.org/drawingml/2006/table">
            <a:tbl>
              <a:tblPr firstRow="1" firstCol="1" lastCol="1" bandRow="1">
                <a:tableStyleId>{5C22544A-7EE6-4342-B048-85BDC9FD1C3A}</a:tableStyleId>
              </a:tblPr>
              <a:tblGrid>
                <a:gridCol w="1933303"/>
                <a:gridCol w="2751908"/>
                <a:gridCol w="2778035"/>
                <a:gridCol w="2485416"/>
                <a:gridCol w="2243338"/>
              </a:tblGrid>
              <a:tr h="687067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2800" lang="ru-RU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Критерий</a:t>
                      </a:r>
                      <a:endParaRPr sz="2800" lang="ru-RU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80C10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2800" lang="ru-RU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STK (</a:t>
                      </a:r>
                      <a:r>
                        <a:rPr sz="2800" lang="ru-RU" err="1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Ansys</a:t>
                      </a:r>
                      <a:r>
                        <a:rPr sz="2800" lang="ru-RU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sz="2800" lang="ru-RU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80C10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2800" lang="ru-RU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GMAT (NASA)</a:t>
                      </a:r>
                      <a:endParaRPr sz="2800" lang="ru-RU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80C10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600" lang="ru-RU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Обучение на рабочем месте</a:t>
                      </a:r>
                      <a:endParaRPr sz="1600" lang="ru-RU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80C10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2000" lang="en-US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SputnikSim</a:t>
                      </a:r>
                      <a:endParaRPr sz="2000" lang="ru-RU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400" lang="ru-RU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(наш продукт)</a:t>
                      </a:r>
                      <a:endParaRPr sz="1400" lang="ru-RU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80C10"/>
                    </a:solidFill>
                  </a:tcPr>
                </a:tc>
              </a:tr>
              <a:tr h="851695">
                <a:tc>
                  <a:txBody>
                    <a:bodyPr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Стоимость лицензии (в год)</a:t>
                      </a:r>
                      <a:endParaRPr sz="1800" lang="ru-RU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80C10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$15 000–50 000 (вузовская)</a:t>
                      </a:r>
                      <a:endParaRPr sz="18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Бесплатно</a:t>
                      </a:r>
                      <a:endParaRPr sz="18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$50 000–150 000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(за одного оператора)</a:t>
                      </a:r>
                      <a:endParaRPr sz="18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Доступно (целевая цена $2 000–5 000 для вуза)</a:t>
                      </a:r>
                      <a:endParaRPr sz="1800" lang="ru-RU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</a:tr>
              <a:tr h="851695">
                <a:tc>
                  <a:txBody>
                    <a:bodyPr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Скрытые затраты</a:t>
                      </a:r>
                      <a:endParaRPr sz="1800" lang="ru-RU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80C10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Обучение ($5 000–20 000), внедрение</a:t>
                      </a:r>
                      <a:endParaRPr sz="18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Разработка сценариев (работа программистов)</a:t>
                      </a:r>
                      <a:endParaRPr sz="18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Риск потери спутника ($150–300 млн.)</a:t>
                      </a:r>
                      <a:endParaRPr sz="18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Минимальны</a:t>
                      </a:r>
                      <a:endParaRPr sz="1800" lang="ru-RU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</a:tr>
              <a:tr h="728367">
                <a:tc>
                  <a:txBody>
                    <a:bodyPr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Сложность</a:t>
                      </a:r>
                      <a:endParaRPr sz="1800" lang="ru-RU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80C10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Очень высокая</a:t>
                      </a:r>
                      <a:endParaRPr sz="18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Высокая (требуется программирование)</a:t>
                      </a:r>
                      <a:endParaRPr sz="18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Только для избранных</a:t>
                      </a:r>
                      <a:endParaRPr sz="18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Понятно новичку</a:t>
                      </a:r>
                      <a:endParaRPr sz="1800" lang="ru-RU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</a:tr>
              <a:tr h="728367">
                <a:tc>
                  <a:txBody>
                    <a:bodyPr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ИИ-анализ аномалий</a:t>
                      </a:r>
                      <a:endParaRPr sz="1800" lang="ru-RU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80C10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Нет</a:t>
                      </a:r>
                      <a:endParaRPr sz="18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Нет</a:t>
                      </a:r>
                      <a:endParaRPr sz="18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Только опыт наставника</a:t>
                      </a:r>
                      <a:endParaRPr sz="18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Есть</a:t>
                      </a:r>
                      <a:r>
                        <a:rPr sz="1800" lang="en-US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sz="1800" lang="ru-RU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sz="1800" lang="en-US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Vega</a:t>
                      </a:r>
                      <a:r>
                        <a:rPr baseline="0" sz="1800" lang="en-US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 1.0</a:t>
                      </a:r>
                      <a:r>
                        <a:rPr sz="1800" lang="ru-RU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sz="1800" lang="ru-RU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</a:tr>
              <a:tr h="728367">
                <a:tc>
                  <a:txBody>
                    <a:bodyPr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Обратная связь</a:t>
                      </a:r>
                      <a:endParaRPr sz="1800" lang="ru-RU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80C10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Только расчёты</a:t>
                      </a:r>
                      <a:endParaRPr sz="18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Только расчёты</a:t>
                      </a:r>
                      <a:endParaRPr sz="18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Словесная</a:t>
                      </a:r>
                      <a:endParaRPr baseline="0" sz="18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baseline="0" sz="18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рискованно</a:t>
                      </a:r>
                      <a:endParaRPr sz="18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Полный анализ </a:t>
                      </a:r>
                      <a:r>
                        <a:rPr sz="1800" lang="en-US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TLE</a:t>
                      </a:r>
                      <a:r>
                        <a:rPr sz="1800" lang="ru-RU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 нейросетью</a:t>
                      </a:r>
                      <a:endParaRPr sz="1800" lang="ru-RU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</a:tr>
              <a:tr h="728367">
                <a:tc>
                  <a:txBody>
                    <a:bodyPr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Доступно школьникам</a:t>
                      </a:r>
                      <a:endParaRPr sz="1800" lang="ru-RU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0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Нет</a:t>
                      </a:r>
                      <a:endParaRPr sz="18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1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Нет</a:t>
                      </a:r>
                      <a:endParaRPr sz="18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1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Нет</a:t>
                      </a:r>
                      <a:endParaRPr sz="18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1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1800" lang="ru-RU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Да</a:t>
                      </a:r>
                      <a:endParaRPr sz="1800" lang="ru-RU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Объект 2"/>
          <p:cNvSpPr>
            <a:spLocks noGrp="1"/>
          </p:cNvSpPr>
          <p:nvPr>
            <p:ph idx="1"/>
          </p:nvPr>
        </p:nvSpPr>
        <p:spPr>
          <a:xfrm>
            <a:off x="512064" y="1219200"/>
            <a:ext cx="11430000" cy="5638800"/>
          </a:xfrm>
        </p:spPr>
        <p:txBody>
          <a:bodyPr>
            <a:normAutofit/>
          </a:bodyPr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Прямые клиенты (B2B/B2G):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Вузы: </a:t>
            </a:r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Satbayev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 </a:t>
            </a:r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University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, ЕНУ, </a:t>
            </a:r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КазНУ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 (готовят инженеров-</a:t>
            </a:r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баллистиков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Операторы: РЦКС (управление </a:t>
            </a:r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KazSat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Молодёжные космические лаборатории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Школы и кружки (дополнительное образование)</a:t>
            </a:r>
          </a:p>
          <a:p>
            <a:endParaRPr b="1" lang="ru-RU">
              <a:solidFill>
                <a:srgbClr val="00EEFF"/>
              </a:solidFill>
              <a:latin typeface="Consolas" panose="020B0609020204030204" pitchFamily="49" charset="0"/>
            </a:endParaRP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Потенциальные партнёры: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Центры подготовки: НЦ КИТ, СКТБ «</a:t>
            </a:r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Галам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»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В перспективе – интеграция с производителями спутников (</a:t>
            </a:r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Thales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, ИСС </a:t>
            </a:r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Решетнёва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48609" name="Заголовок 1"/>
          <p:cNvSpPr txBox="1"/>
          <p:nvPr/>
        </p:nvSpPr>
        <p:spPr>
          <a:xfrm>
            <a:off x="386256" y="441434"/>
            <a:ext cx="10515600" cy="739775"/>
          </a:xfrm>
          <a:prstGeom prst="rect"/>
        </p:spPr>
        <p:txBody>
          <a:bodyPr anchor="ctr" bIns="45720" lIns="91440" rIns="91440" rtlCol="0" tIns="45720" vert="horz">
            <a:noAutofit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sz="7200" lang="en-US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b="1" sz="7200" lang="ru-RU">
                <a:solidFill>
                  <a:srgbClr val="00FF99"/>
                </a:solidFill>
                <a:latin typeface="Consolas" panose="020B0609020204030204" pitchFamily="49" charset="0"/>
              </a:rPr>
              <a:t>/Рынок</a:t>
            </a:r>
            <a:r>
              <a:rPr b="1" sz="7200" lang="en-US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b="1" sz="7200" lang="ru-RU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Объект 2"/>
          <p:cNvSpPr>
            <a:spLocks noGrp="1"/>
          </p:cNvSpPr>
          <p:nvPr>
            <p:ph idx="1"/>
          </p:nvPr>
        </p:nvSpPr>
        <p:spPr>
          <a:xfrm>
            <a:off x="559876" y="1314449"/>
            <a:ext cx="10515600" cy="5543551"/>
          </a:xfrm>
        </p:spPr>
        <p:txBody>
          <a:bodyPr>
            <a:noAutofit/>
          </a:bodyPr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Продажа годовых лицензий учебным заведениям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Пакет для вуза (до 50 пользователей): $2–5 тыс./год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Гранты и программы поддержки</a:t>
            </a:r>
          </a:p>
          <a:p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Astana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 </a:t>
            </a:r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Hub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, </a:t>
            </a:r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Минцифры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 РК, «</a:t>
            </a:r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Жас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 </a:t>
            </a:r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Ғалым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» – на развитие и пилоты</a:t>
            </a:r>
          </a:p>
          <a:p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Кастомизация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 под заказчика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Добавление моделей конкретных спутников, </a:t>
            </a:r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спецсценарии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 (оплачивается отдельно)</a:t>
            </a:r>
          </a:p>
          <a:p>
            <a:r>
              <a:rPr b="1" lang="ru-RU">
                <a:solidFill>
                  <a:srgbClr val="FF66FF"/>
                </a:solidFill>
                <a:latin typeface="Consolas" panose="020B0609020204030204" pitchFamily="49" charset="0"/>
              </a:rPr>
              <a:t>Позже:</a:t>
            </a:r>
          </a:p>
          <a:p>
            <a:r>
              <a:rPr b="1" lang="ru-RU">
                <a:solidFill>
                  <a:srgbClr val="FF66FF"/>
                </a:solidFill>
                <a:latin typeface="Consolas" panose="020B0609020204030204" pitchFamily="49" charset="0"/>
              </a:rPr>
              <a:t>Подписка для индивидуальных пользователей</a:t>
            </a:r>
          </a:p>
          <a:p>
            <a:r>
              <a:rPr b="1" lang="ru-RU">
                <a:solidFill>
                  <a:srgbClr val="FF66FF"/>
                </a:solidFill>
                <a:latin typeface="Consolas" panose="020B0609020204030204" pitchFamily="49" charset="0"/>
              </a:rPr>
              <a:t>(месячная/годовая)</a:t>
            </a:r>
          </a:p>
        </p:txBody>
      </p:sp>
      <p:sp>
        <p:nvSpPr>
          <p:cNvPr id="1048611" name="Заголовок 1"/>
          <p:cNvSpPr txBox="1"/>
          <p:nvPr/>
        </p:nvSpPr>
        <p:spPr>
          <a:xfrm>
            <a:off x="386256" y="441434"/>
            <a:ext cx="10515600" cy="739775"/>
          </a:xfrm>
          <a:prstGeom prst="rect"/>
        </p:spPr>
        <p:txBody>
          <a:bodyPr anchor="ctr" bIns="45720" lIns="91440" rIns="91440" rtlCol="0" tIns="45720" vert="horz">
            <a:noAutofit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sz="7200" lang="en-US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b="1" sz="7200" lang="ru-RU">
                <a:solidFill>
                  <a:srgbClr val="00FF99"/>
                </a:solidFill>
                <a:latin typeface="Consolas" panose="020B0609020204030204" pitchFamily="49" charset="0"/>
              </a:rPr>
              <a:t>/Бизнес модель</a:t>
            </a:r>
            <a:r>
              <a:rPr b="1" sz="7200" lang="en-US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b="1" sz="7200" lang="ru-RU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Объект 2"/>
          <p:cNvSpPr>
            <a:spLocks noGrp="1"/>
          </p:cNvSpPr>
          <p:nvPr>
            <p:ph idx="1"/>
          </p:nvPr>
        </p:nvSpPr>
        <p:spPr>
          <a:xfrm>
            <a:off x="838200" y="2019299"/>
            <a:ext cx="10515600" cy="4400551"/>
          </a:xfrm>
        </p:spPr>
        <p:txBody>
          <a:bodyPr>
            <a:normAutofit/>
          </a:bodyPr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Прямые продажи: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 переговоры с вузами, участие в тендерах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Контент-маркетинг: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 публикации кейсов (анализ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KazSat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,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Al-Farabi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) в отраслевых журналах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Мероприятия: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 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Space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Days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Kazakhstan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, выставки, конференции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Партнёрства: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 с казахстанскими научными центрами (НЦ КИТ, СКТБ «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Галам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») для пилотных внедрений</a:t>
            </a:r>
          </a:p>
        </p:txBody>
      </p:sp>
      <p:sp>
        <p:nvSpPr>
          <p:cNvPr id="1048613" name="Заголовок 1"/>
          <p:cNvSpPr txBox="1"/>
          <p:nvPr/>
        </p:nvSpPr>
        <p:spPr>
          <a:xfrm>
            <a:off x="386256" y="441434"/>
            <a:ext cx="10515600" cy="739775"/>
          </a:xfrm>
          <a:prstGeom prst="rect"/>
        </p:spPr>
        <p:txBody>
          <a:bodyPr anchor="ctr" bIns="45720" lIns="91440" rIns="91440" rtlCol="0" tIns="45720" vert="horz">
            <a:noAutofit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sz="7200" lang="en-US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b="1" sz="7200" lang="ru-RU">
                <a:solidFill>
                  <a:srgbClr val="00FF99"/>
                </a:solidFill>
                <a:latin typeface="Consolas" panose="020B0609020204030204" pitchFamily="49" charset="0"/>
              </a:rPr>
              <a:t>/Каналы сбыта</a:t>
            </a:r>
            <a:r>
              <a:rPr b="1" sz="7200" lang="en-US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b="1" sz="7200" lang="ru-RU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Заголовок 1"/>
          <p:cNvSpPr txBox="1"/>
          <p:nvPr/>
        </p:nvSpPr>
        <p:spPr>
          <a:xfrm>
            <a:off x="386255" y="441434"/>
            <a:ext cx="11419921" cy="739775"/>
          </a:xfrm>
          <a:prstGeom prst="rect"/>
        </p:spPr>
        <p:txBody>
          <a:bodyPr anchor="ctr" bIns="45720" lIns="91440" rIns="91440" rtlCol="0" tIns="45720" vert="horz">
            <a:noAutofit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sz="5400" lang="en-US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b="1" sz="5400" lang="ru-RU">
                <a:solidFill>
                  <a:srgbClr val="00FF99"/>
                </a:solidFill>
                <a:latin typeface="Consolas" panose="020B0609020204030204" pitchFamily="49" charset="0"/>
              </a:rPr>
              <a:t>/Прогресс и дорожная карта</a:t>
            </a:r>
            <a:r>
              <a:rPr b="1" sz="5400" lang="en-US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b="1" sz="5400" lang="ru-RU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sp>
        <p:nvSpPr>
          <p:cNvPr id="1048615" name="Объект 2"/>
          <p:cNvSpPr>
            <a:spLocks noGrp="1"/>
          </p:cNvSpPr>
          <p:nvPr>
            <p:ph idx="1"/>
          </p:nvPr>
        </p:nvSpPr>
        <p:spPr>
          <a:xfrm>
            <a:off x="838200" y="1581150"/>
            <a:ext cx="10515600" cy="5276850"/>
          </a:xfrm>
        </p:spPr>
        <p:txBody>
          <a:bodyPr>
            <a:normAutofit/>
          </a:bodyPr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Текущий статус: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Загрузка спутников по NORAD ID, </a:t>
            </a:r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парсинг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 TLE</a:t>
            </a:r>
          </a:p>
          <a:p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Нейросеть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 для автоматического обнаружения аномалий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Команда </a:t>
            </a:r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delta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 для изменения параметров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Симуляция времени (</a:t>
            </a:r>
            <a:r>
              <a:rPr b="1" lang="ru-RU" err="1">
                <a:solidFill>
                  <a:srgbClr val="00EEFF"/>
                </a:solidFill>
                <a:latin typeface="Consolas" panose="020B0609020204030204" pitchFamily="49" charset="0"/>
              </a:rPr>
              <a:t>simulate</a:t>
            </a:r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Консольный интерфейс, базовая таблица параметров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Графическая визуализация орбиты на карте</a:t>
            </a:r>
          </a:p>
          <a:p>
            <a:endParaRPr b="1" lang="ru-RU">
              <a:solidFill>
                <a:srgbClr val="00EEFF"/>
              </a:solidFill>
              <a:latin typeface="Consolas" panose="020B0609020204030204" pitchFamily="49" charset="0"/>
            </a:endParaRP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Планы (6–12 месяцев):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Пилоты в 2–3 казахстанских вузах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1725"/>
          </a:xfrm>
        </p:spPr>
        <p:txBody>
          <a:bodyPr>
            <a:normAutofit/>
          </a:bodyPr>
          <a:p>
            <a:r>
              <a:rPr b="1" lang="en-US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b="1" lang="ru-RU">
                <a:solidFill>
                  <a:srgbClr val="00FF99"/>
                </a:solidFill>
                <a:latin typeface="Consolas" panose="020B0609020204030204" pitchFamily="49" charset="0"/>
              </a:rPr>
              <a:t>Ключевые метрики</a:t>
            </a:r>
            <a:r>
              <a:rPr b="1" lang="en-US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br>
              <a:rPr b="1" lang="ru-RU">
                <a:solidFill>
                  <a:srgbClr val="00FF99"/>
                </a:solidFill>
                <a:latin typeface="Consolas" panose="020B0609020204030204" pitchFamily="49" charset="0"/>
              </a:rPr>
            </a:br>
            <a:r>
              <a:rPr b="1" lang="ru-RU">
                <a:solidFill>
                  <a:srgbClr val="00FF99"/>
                </a:solidFill>
                <a:latin typeface="Consolas" panose="020B0609020204030204" pitchFamily="49" charset="0"/>
              </a:rPr>
              <a:t>(цели на 2026-2027 год)</a:t>
            </a:r>
            <a:endParaRPr lang="ru-RU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4194306" name="Объект 4"/>
          <p:cNvGraphicFramePr>
            <a:graphicFrameLocks noGrp="1"/>
          </p:cNvGraphicFramePr>
          <p:nvPr>
            <p:ph idx="1"/>
          </p:nvPr>
        </p:nvGraphicFramePr>
        <p:xfrm>
          <a:off x="744583" y="1466850"/>
          <a:ext cx="10702834" cy="4919664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9052070"/>
                <a:gridCol w="1650764"/>
              </a:tblGrid>
              <a:tr h="1229916">
                <a:tc>
                  <a:txBody>
                    <a:bodyPr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32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Количество активных пользователей (обучающихся)</a:t>
                      </a:r>
                      <a:endParaRPr sz="32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80C10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32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100+</a:t>
                      </a:r>
                      <a:endParaRPr sz="32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</a:tr>
              <a:tr h="1229916">
                <a:tc>
                  <a:txBody>
                    <a:bodyPr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32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Количество заключенных контрактов с учебными</a:t>
                      </a:r>
                      <a:r>
                        <a:rPr baseline="0" sz="32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 заведениями</a:t>
                      </a:r>
                      <a:endParaRPr sz="32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80C10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32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2-5</a:t>
                      </a:r>
                      <a:endParaRPr sz="32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</a:tr>
              <a:tr h="1229916">
                <a:tc>
                  <a:txBody>
                    <a:bodyPr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32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Точность обнаружения аномалий</a:t>
                      </a:r>
                      <a:endParaRPr sz="32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80C10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3200" lang="en-US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sz="32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9</a:t>
                      </a:r>
                      <a:r>
                        <a:rPr sz="3200" lang="en-US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sz="32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%</a:t>
                      </a:r>
                      <a:endParaRPr sz="32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</a:tr>
              <a:tr h="1229916">
                <a:tc>
                  <a:txBody>
                    <a:bodyPr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3200" lang="ru-RU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NPS (удовлетворенность) среди первых пользователей</a:t>
                      </a:r>
                      <a:endParaRPr sz="32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80C10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sz="3200" lang="en-US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&gt;+50</a:t>
                      </a:r>
                      <a:endParaRPr sz="3200" lang="ru-RU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sz="5400" lang="en-US">
                <a:solidFill>
                  <a:srgbClr val="00EEFF"/>
                </a:solidFill>
                <a:latin typeface="Consolas" panose="020B0609020204030204" pitchFamily="49" charset="0"/>
              </a:rPr>
              <a:t>&lt;/</a:t>
            </a:r>
            <a:r>
              <a:rPr b="1" sz="5400" lang="ru-RU">
                <a:solidFill>
                  <a:srgbClr val="00EEFF"/>
                </a:solidFill>
                <a:latin typeface="Consolas" panose="020B0609020204030204" pitchFamily="49" charset="0"/>
              </a:rPr>
              <a:t>Команда </a:t>
            </a:r>
            <a:r>
              <a:rPr b="1" sz="5400" lang="en-US">
                <a:solidFill>
                  <a:srgbClr val="00EEFF"/>
                </a:solidFill>
                <a:latin typeface="Consolas" panose="020B0609020204030204" pitchFamily="49" charset="0"/>
              </a:rPr>
              <a:t>RUDnik&gt;</a:t>
            </a:r>
            <a:endParaRPr b="1" sz="5400" lang="ru-RU">
              <a:solidFill>
                <a:srgbClr val="00EEFF"/>
              </a:solidFill>
              <a:latin typeface="Consolas" panose="020B0609020204030204" pitchFamily="49" charset="0"/>
            </a:endParaRPr>
          </a:p>
        </p:txBody>
      </p:sp>
      <p:sp>
        <p:nvSpPr>
          <p:cNvPr id="1048618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indent="0" marL="0">
              <a:buNone/>
            </a:pPr>
            <a:r>
              <a:rPr sz="3600" lang="en-US">
                <a:solidFill>
                  <a:srgbClr val="00FF99"/>
                </a:solidFill>
                <a:latin typeface="Consolas" panose="020B0609020204030204" pitchFamily="49" charset="0"/>
              </a:rPr>
              <a:t>|</a:t>
            </a:r>
            <a:r>
              <a:rPr sz="3600" lang="ru-RU">
                <a:solidFill>
                  <a:srgbClr val="00FF99"/>
                </a:solidFill>
                <a:latin typeface="Consolas" panose="020B0609020204030204" pitchFamily="49" charset="0"/>
              </a:rPr>
              <a:t>Хлызов Максим – Капитан, Физик</a:t>
            </a:r>
          </a:p>
          <a:p>
            <a:pPr indent="0" marL="0">
              <a:buNone/>
            </a:pPr>
            <a:r>
              <a:rPr sz="3600" lang="en-US">
                <a:solidFill>
                  <a:srgbClr val="00FF99"/>
                </a:solidFill>
                <a:latin typeface="Consolas" panose="020B0609020204030204" pitchFamily="49" charset="0"/>
              </a:rPr>
              <a:t>|</a:t>
            </a:r>
            <a:r>
              <a:rPr sz="3600" lang="ru-RU">
                <a:solidFill>
                  <a:srgbClr val="00FF99"/>
                </a:solidFill>
                <a:latin typeface="Consolas" panose="020B0609020204030204" pitchFamily="49" charset="0"/>
              </a:rPr>
              <a:t>Гончар Фёдор – </a:t>
            </a:r>
            <a:r>
              <a:rPr sz="3600" lang="en-US">
                <a:solidFill>
                  <a:srgbClr val="00FF99"/>
                </a:solidFill>
                <a:latin typeface="Consolas" panose="020B0609020204030204" pitchFamily="49" charset="0"/>
              </a:rPr>
              <a:t>Frontend</a:t>
            </a:r>
            <a:endParaRPr sz="3600" lang="ru-RU">
              <a:solidFill>
                <a:srgbClr val="00FF99"/>
              </a:solidFill>
              <a:latin typeface="Consolas" panose="020B0609020204030204" pitchFamily="49" charset="0"/>
            </a:endParaRPr>
          </a:p>
          <a:p>
            <a:pPr indent="0" marL="0">
              <a:buNone/>
            </a:pPr>
            <a:r>
              <a:rPr sz="3600" lang="en-US">
                <a:solidFill>
                  <a:srgbClr val="00FF99"/>
                </a:solidFill>
                <a:latin typeface="Consolas" panose="020B0609020204030204" pitchFamily="49" charset="0"/>
              </a:rPr>
              <a:t>|</a:t>
            </a:r>
            <a:r>
              <a:rPr sz="3600" lang="ru-RU">
                <a:solidFill>
                  <a:srgbClr val="00FF99"/>
                </a:solidFill>
                <a:latin typeface="Consolas" panose="020B0609020204030204" pitchFamily="49" charset="0"/>
              </a:rPr>
              <a:t>Волочай Даниил – </a:t>
            </a:r>
            <a:r>
              <a:rPr sz="3600" lang="en-US">
                <a:solidFill>
                  <a:srgbClr val="00FF99"/>
                </a:solidFill>
                <a:latin typeface="Consolas" panose="020B0609020204030204" pitchFamily="49" charset="0"/>
              </a:rPr>
              <a:t>Backend </a:t>
            </a:r>
            <a:r>
              <a:rPr sz="3600" lang="ru-RU">
                <a:solidFill>
                  <a:srgbClr val="00FF99"/>
                </a:solidFill>
                <a:latin typeface="Consolas" panose="020B0609020204030204" pitchFamily="49" charset="0"/>
              </a:rPr>
              <a:t>и </a:t>
            </a:r>
            <a:r>
              <a:rPr sz="3600" lang="en-US">
                <a:solidFill>
                  <a:srgbClr val="00FF99"/>
                </a:solidFill>
                <a:latin typeface="Consolas" panose="020B0609020204030204" pitchFamily="49" charset="0"/>
              </a:rPr>
              <a:t>AI</a:t>
            </a:r>
            <a:endParaRPr sz="3600" lang="ru-RU">
              <a:solidFill>
                <a:srgbClr val="00FF99"/>
              </a:solidFill>
              <a:latin typeface="Consolas" panose="020B0609020204030204" pitchFamily="49" charset="0"/>
            </a:endParaRPr>
          </a:p>
          <a:p>
            <a:pPr indent="0" marL="0">
              <a:buNone/>
            </a:pPr>
            <a:r>
              <a:rPr sz="3600" lang="en-US">
                <a:solidFill>
                  <a:srgbClr val="00FF99"/>
                </a:solidFill>
                <a:latin typeface="Consolas" panose="020B0609020204030204" pitchFamily="49" charset="0"/>
              </a:rPr>
              <a:t>|</a:t>
            </a:r>
            <a:r>
              <a:rPr sz="3600" lang="ru-RU">
                <a:solidFill>
                  <a:srgbClr val="00FF99"/>
                </a:solidFill>
                <a:latin typeface="Consolas" panose="020B0609020204030204" pitchFamily="49" charset="0"/>
              </a:rPr>
              <a:t>Андин Артём – Маркетинг и документация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sz="5400" lang="en-US">
                <a:solidFill>
                  <a:srgbClr val="00EEFF"/>
                </a:solidFill>
                <a:latin typeface="Consolas" panose="020B0609020204030204" pitchFamily="49" charset="0"/>
              </a:rPr>
              <a:t>&lt;/</a:t>
            </a:r>
            <a:r>
              <a:rPr b="1" sz="5400" lang="ru-RU">
                <a:solidFill>
                  <a:srgbClr val="00EEFF"/>
                </a:solidFill>
                <a:latin typeface="Consolas" panose="020B0609020204030204" pitchFamily="49" charset="0"/>
              </a:rPr>
              <a:t>Команда </a:t>
            </a:r>
            <a:r>
              <a:rPr b="1" sz="5400" lang="en-US">
                <a:solidFill>
                  <a:srgbClr val="00EEFF"/>
                </a:solidFill>
                <a:latin typeface="Consolas" panose="020B0609020204030204" pitchFamily="49" charset="0"/>
              </a:rPr>
              <a:t>RUDnik&gt;</a:t>
            </a:r>
            <a:endParaRPr b="1" sz="5400" lang="ru-RU">
              <a:solidFill>
                <a:srgbClr val="00EEFF"/>
              </a:solidFill>
              <a:latin typeface="Consolas" panose="020B0609020204030204" pitchFamily="49" charset="0"/>
            </a:endParaRPr>
          </a:p>
        </p:txBody>
      </p:sp>
      <p:sp>
        <p:nvSpPr>
          <p:cNvPr id="1048620" name="Объект 3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lang="ru-RU">
                <a:solidFill>
                  <a:srgbClr val="FF66FF"/>
                </a:solidFill>
              </a:rPr>
              <a:t>Здесь будет</a:t>
            </a:r>
            <a:r>
              <a:rPr lang="en-US">
                <a:solidFill>
                  <a:srgbClr val="FF66FF"/>
                </a:solidFill>
              </a:rPr>
              <a:t>:</a:t>
            </a:r>
          </a:p>
          <a:p>
            <a:r>
              <a:rPr lang="ru-RU">
                <a:solidFill>
                  <a:srgbClr val="FF66FF"/>
                </a:solidFill>
              </a:rPr>
              <a:t>Наша реклама</a:t>
            </a:r>
          </a:p>
          <a:p>
            <a:r>
              <a:rPr lang="ru-RU">
                <a:solidFill>
                  <a:srgbClr val="FF66FF"/>
                </a:solidFill>
              </a:rPr>
              <a:t>Огромный елтанба</a:t>
            </a:r>
          </a:p>
          <a:p>
            <a:r>
              <a:rPr lang="ru-RU">
                <a:solidFill>
                  <a:srgbClr val="FF66FF"/>
                </a:solidFill>
              </a:rPr>
              <a:t>Фотка каких то ноунеймов</a:t>
            </a:r>
          </a:p>
          <a:p>
            <a:r>
              <a:rPr lang="ru-RU">
                <a:solidFill>
                  <a:srgbClr val="FF66FF"/>
                </a:solidFill>
              </a:rPr>
              <a:t>Изложение моих философских мыслей в данный момент</a:t>
            </a:r>
          </a:p>
          <a:p>
            <a:r>
              <a:rPr lang="ru-RU">
                <a:solidFill>
                  <a:srgbClr val="FF66FF"/>
                </a:solidFill>
              </a:rPr>
              <a:t>ГЫЧА крутящаяся под диско</a:t>
            </a:r>
          </a:p>
          <a:p>
            <a:r>
              <a:rPr lang="ru-RU">
                <a:solidFill>
                  <a:srgbClr val="FF66FF"/>
                </a:solidFill>
              </a:rPr>
              <a:t>Снос цыганских домов под </a:t>
            </a:r>
            <a:r>
              <a:rPr lang="en-US">
                <a:solidFill>
                  <a:srgbClr val="FF66FF"/>
                </a:solidFill>
              </a:rPr>
              <a:t>Du Hast (kein herz)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sz="7200" lang="en-US">
                <a:solidFill>
                  <a:srgbClr val="00FF99"/>
                </a:solidFill>
                <a:latin typeface="Consolas" panose="020B0609020204030204" pitchFamily="49" charset="0"/>
              </a:rPr>
              <a:t>&lt;/</a:t>
            </a:r>
            <a:r>
              <a:rPr b="1" sz="7200" lang="ru-RU">
                <a:solidFill>
                  <a:srgbClr val="00FF99"/>
                </a:solidFill>
                <a:latin typeface="Consolas" panose="020B0609020204030204" pitchFamily="49" charset="0"/>
              </a:rPr>
              <a:t>Запрос</a:t>
            </a:r>
            <a:r>
              <a:rPr b="1" sz="7200" lang="en-US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b="1" sz="7200" lang="ru-RU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sp>
        <p:nvSpPr>
          <p:cNvPr id="1048622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Инвестиции / гранты для завершения разработки, улучшения UI/UX и маркетинга.</a:t>
            </a:r>
          </a:p>
          <a:p>
            <a:r>
              <a:rPr b="1" lang="ru-RU">
                <a:solidFill>
                  <a:srgbClr val="00EEFF"/>
                </a:solidFill>
                <a:latin typeface="Consolas" panose="020B0609020204030204" pitchFamily="49" charset="0"/>
              </a:rPr>
              <a:t>Партнёров среди учебных заведений для пилотного внедрения и получения обратной связи.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Объект 2"/>
          <p:cNvSpPr>
            <a:spLocks noGrp="1"/>
          </p:cNvSpPr>
          <p:nvPr>
            <p:ph idx="1"/>
          </p:nvPr>
        </p:nvSpPr>
        <p:spPr>
          <a:xfrm>
            <a:off x="150471" y="551104"/>
            <a:ext cx="12222866" cy="5755792"/>
          </a:xfrm>
        </p:spPr>
        <p:txBody>
          <a:bodyPr>
            <a:normAutofit/>
          </a:bodyPr>
          <a:p>
            <a:pPr indent="0" marL="0">
              <a:buNone/>
            </a:pPr>
            <a:r>
              <a:rPr sz="6000" lang="en-US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sz="6000" lang="ru-RU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sz="3900" lang="ru-RU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Мы обнаружили утечку памяти, но забыли, где</a:t>
            </a:r>
            <a:endParaRPr sz="7800" lang="ru-RU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indent="0" marL="0">
              <a:buNone/>
            </a:pPr>
            <a:r>
              <a:rPr sz="6000" lang="en-US">
                <a:solidFill>
                  <a:srgbClr val="00EEFF"/>
                </a:solidFill>
                <a:latin typeface="Consolas" panose="020B0609020204030204" pitchFamily="49" charset="0"/>
              </a:rPr>
              <a:t>if</a:t>
            </a:r>
            <a:r>
              <a:rPr sz="6000" lang="en-US">
                <a:solidFill>
                  <a:srgbClr val="FF66FF"/>
                </a:solidFill>
                <a:latin typeface="Consolas" panose="020B0609020204030204" pitchFamily="49" charset="0"/>
              </a:rPr>
              <a:t> </a:t>
            </a:r>
            <a:r>
              <a:rPr sz="6000" lang="en-US">
                <a:solidFill>
                  <a:schemeClr val="bg1"/>
                </a:solidFill>
                <a:latin typeface="Consolas" panose="020B0609020204030204" pitchFamily="49" charset="0"/>
              </a:rPr>
              <a:t>mission</a:t>
            </a:r>
            <a:r>
              <a:rPr sz="6000" lang="en-US">
                <a:solidFill>
                  <a:srgbClr val="FF66FF"/>
                </a:solidFill>
                <a:latin typeface="Consolas" panose="020B0609020204030204" pitchFamily="49" charset="0"/>
              </a:rPr>
              <a:t> </a:t>
            </a:r>
            <a:r>
              <a:rPr sz="6000" lang="en-US">
                <a:solidFill>
                  <a:schemeClr val="bg1"/>
                </a:solidFill>
                <a:latin typeface="Consolas" panose="020B0609020204030204" pitchFamily="49" charset="0"/>
              </a:rPr>
              <a:t>==</a:t>
            </a:r>
            <a:r>
              <a:rPr sz="6000" lang="en-US">
                <a:solidFill>
                  <a:srgbClr val="FF66FF"/>
                </a:solidFill>
                <a:latin typeface="Consolas" panose="020B0609020204030204" pitchFamily="49" charset="0"/>
              </a:rPr>
              <a:t> </a:t>
            </a:r>
            <a:r>
              <a:rPr sz="6000" lang="en-US">
                <a:solidFill>
                  <a:srgbClr val="00FF99"/>
                </a:solidFill>
                <a:latin typeface="Consolas" panose="020B0609020204030204" pitchFamily="49" charset="0"/>
              </a:rPr>
              <a:t>"complete”</a:t>
            </a:r>
            <a:r>
              <a:rPr sz="6000" lang="en-US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pPr indent="0" marL="0">
              <a:buNone/>
            </a:pPr>
            <a:r>
              <a:rPr sz="6000" lang="en-US">
                <a:solidFill>
                  <a:srgbClr val="FF66FF"/>
                </a:solidFill>
                <a:latin typeface="Consolas" panose="020B0609020204030204" pitchFamily="49" charset="0"/>
              </a:rPr>
              <a:t>	Print</a:t>
            </a:r>
            <a:r>
              <a:rPr sz="6000" lang="en-US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sz="6000" lang="en-US">
                <a:solidFill>
                  <a:srgbClr val="00FF99"/>
                </a:solidFill>
                <a:latin typeface="Consolas" panose="020B0609020204030204" pitchFamily="49" charset="0"/>
              </a:rPr>
              <a:t>“THE END”)</a:t>
            </a:r>
            <a:endParaRPr sz="6000" lang="en-US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indent="0" marL="0">
              <a:buNone/>
            </a:pPr>
            <a:r>
              <a:rPr sz="6000" lang="en-US">
                <a:solidFill>
                  <a:srgbClr val="FF66FF"/>
                </a:solidFill>
                <a:latin typeface="Consolas" panose="020B0609020204030204" pitchFamily="49" charset="0"/>
              </a:rPr>
              <a:t>	Print</a:t>
            </a:r>
            <a:r>
              <a:rPr sz="6000" lang="en-US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sz="6000" lang="en-US">
                <a:solidFill>
                  <a:srgbClr val="00FF99"/>
                </a:solidFill>
                <a:latin typeface="Consolas" panose="020B0609020204030204" pitchFamily="49" charset="0"/>
              </a:rPr>
              <a:t>“Thanks for watching”</a:t>
            </a:r>
            <a:r>
              <a:rPr sz="6000" lang="en-US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sz="6000" lang="ru-RU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indent="0" marL="0">
              <a:buNone/>
            </a:pPr>
            <a:r>
              <a:rPr sz="6000" lang="en-US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sz="6000" lang="en-US">
                <a:solidFill>
                  <a:srgbClr val="FF66FF"/>
                </a:solidFill>
                <a:latin typeface="Consolas" panose="020B0609020204030204" pitchFamily="49" charset="0"/>
              </a:rPr>
              <a:t>Print</a:t>
            </a:r>
            <a:r>
              <a:rPr sz="6000" lang="en-US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sz="6000" lang="en-US">
                <a:solidFill>
                  <a:srgbClr val="00FF99"/>
                </a:solidFill>
                <a:latin typeface="Consolas" panose="020B0609020204030204" pitchFamily="49" charset="0"/>
              </a:rPr>
              <a:t>“RUDnik team”</a:t>
            </a:r>
            <a:r>
              <a:rPr sz="6000" lang="en-US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sz="6000" lang="ru-RU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indent="0" marL="0">
              <a:buNone/>
            </a:pPr>
            <a:r>
              <a:rPr sz="6000" lang="en-US">
                <a:solidFill>
                  <a:srgbClr val="00EEFF"/>
                </a:solidFill>
                <a:latin typeface="Consolas" panose="020B0609020204030204" pitchFamily="49" charset="0"/>
              </a:rPr>
              <a:t>Return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Презентация PowerPoint</dc:title>
  <dc:creator>админ</dc:creator>
  <cp:lastModifiedBy>Ski's</cp:lastModifiedBy>
  <dcterms:created xsi:type="dcterms:W3CDTF">2026-02-21T05:57:04Z</dcterms:created>
  <dcterms:modified xsi:type="dcterms:W3CDTF">2026-02-25T05:30:00Z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34ffc6e737d44082a5ec6f0918df4502</vt:lpwstr>
  </property>
</Properties>
</file>